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2"/>
  </p:notesMasterIdLst>
  <p:sldIdLst>
    <p:sldId id="256" r:id="rId2"/>
    <p:sldId id="271" r:id="rId3"/>
    <p:sldId id="259" r:id="rId4"/>
    <p:sldId id="258" r:id="rId5"/>
    <p:sldId id="260" r:id="rId6"/>
    <p:sldId id="272" r:id="rId7"/>
    <p:sldId id="261" r:id="rId8"/>
    <p:sldId id="273" r:id="rId9"/>
    <p:sldId id="266" r:id="rId10"/>
    <p:sldId id="274" r:id="rId11"/>
    <p:sldId id="275" r:id="rId12"/>
    <p:sldId id="276" r:id="rId13"/>
    <p:sldId id="278" r:id="rId14"/>
    <p:sldId id="279" r:id="rId15"/>
    <p:sldId id="280" r:id="rId16"/>
    <p:sldId id="281" r:id="rId17"/>
    <p:sldId id="282" r:id="rId18"/>
    <p:sldId id="283" r:id="rId19"/>
    <p:sldId id="284" r:id="rId20"/>
    <p:sldId id="285" r:id="rId21"/>
    <p:sldId id="286" r:id="rId22"/>
    <p:sldId id="287" r:id="rId23"/>
    <p:sldId id="288" r:id="rId24"/>
    <p:sldId id="267" r:id="rId25"/>
    <p:sldId id="263" r:id="rId26"/>
    <p:sldId id="277" r:id="rId27"/>
    <p:sldId id="289" r:id="rId28"/>
    <p:sldId id="290" r:id="rId29"/>
    <p:sldId id="291" r:id="rId30"/>
    <p:sldId id="292" r:id="rId31"/>
    <p:sldId id="293" r:id="rId32"/>
    <p:sldId id="294" r:id="rId33"/>
    <p:sldId id="295" r:id="rId34"/>
    <p:sldId id="296" r:id="rId35"/>
    <p:sldId id="297" r:id="rId36"/>
    <p:sldId id="298" r:id="rId37"/>
    <p:sldId id="299" r:id="rId38"/>
    <p:sldId id="300" r:id="rId39"/>
    <p:sldId id="301" r:id="rId40"/>
    <p:sldId id="302" r:id="rId41"/>
    <p:sldId id="303" r:id="rId42"/>
    <p:sldId id="304" r:id="rId43"/>
    <p:sldId id="305" r:id="rId44"/>
    <p:sldId id="268" r:id="rId45"/>
    <p:sldId id="265" r:id="rId46"/>
    <p:sldId id="269" r:id="rId47"/>
    <p:sldId id="306" r:id="rId48"/>
    <p:sldId id="270" r:id="rId49"/>
    <p:sldId id="307" r:id="rId50"/>
    <p:sldId id="264" r:id="rId51"/>
  </p:sldIdLst>
  <p:sldSz cx="9144000" cy="5143500" type="screen16x9"/>
  <p:notesSz cx="6858000" cy="9144000"/>
  <p:embeddedFontLst>
    <p:embeddedFont>
      <p:font typeface="Cambria Math" panose="02040503050406030204" pitchFamily="18" charset="0"/>
      <p:regular r:id="rId53"/>
    </p:embeddedFont>
    <p:embeddedFont>
      <p:font typeface="Old Standard TT" panose="020B0604020202020204" charset="0"/>
      <p:regular r:id="rId54"/>
      <p:bold r:id="rId55"/>
      <p: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7868B5-A743-460D-8C2D-18AC6933671E}" v="25" dt="2025-11-04T21:04:09.1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bhodip Chakraborty" userId="e86c071ad2c289ea" providerId="LiveId" clId="{9775EB7A-7442-43E9-9482-05D5E9608332}"/>
    <pc:docChg chg="undo custSel addSld modSld sldOrd">
      <pc:chgData name="Subhodip Chakraborty" userId="e86c071ad2c289ea" providerId="LiveId" clId="{9775EB7A-7442-43E9-9482-05D5E9608332}" dt="2025-11-04T21:10:06.434" v="2136" actId="1076"/>
      <pc:docMkLst>
        <pc:docMk/>
      </pc:docMkLst>
      <pc:sldChg chg="addSp delSp modSp mod">
        <pc:chgData name="Subhodip Chakraborty" userId="e86c071ad2c289ea" providerId="LiveId" clId="{9775EB7A-7442-43E9-9482-05D5E9608332}" dt="2025-11-04T20:58:02.093" v="2043" actId="14100"/>
        <pc:sldMkLst>
          <pc:docMk/>
          <pc:sldMk cId="0" sldId="256"/>
        </pc:sldMkLst>
        <pc:spChg chg="add mod">
          <ac:chgData name="Subhodip Chakraborty" userId="e86c071ad2c289ea" providerId="LiveId" clId="{9775EB7A-7442-43E9-9482-05D5E9608332}" dt="2025-11-04T20:58:02.093" v="2043" actId="14100"/>
          <ac:spMkLst>
            <pc:docMk/>
            <pc:sldMk cId="0" sldId="256"/>
            <ac:spMk id="2" creationId="{276D6898-1B99-D72D-2BBA-0F3BBD6933D3}"/>
          </ac:spMkLst>
        </pc:spChg>
        <pc:spChg chg="add del">
          <ac:chgData name="Subhodip Chakraborty" userId="e86c071ad2c289ea" providerId="LiveId" clId="{9775EB7A-7442-43E9-9482-05D5E9608332}" dt="2025-11-04T20:55:55.636" v="1909" actId="22"/>
          <ac:spMkLst>
            <pc:docMk/>
            <pc:sldMk cId="0" sldId="256"/>
            <ac:spMk id="4" creationId="{2692522A-7F95-8223-664D-9FBC540D161B}"/>
          </ac:spMkLst>
        </pc:spChg>
        <pc:spChg chg="add del mod">
          <ac:chgData name="Subhodip Chakraborty" userId="e86c071ad2c289ea" providerId="LiveId" clId="{9775EB7A-7442-43E9-9482-05D5E9608332}" dt="2025-11-04T20:56:34.167" v="2010" actId="478"/>
          <ac:spMkLst>
            <pc:docMk/>
            <pc:sldMk cId="0" sldId="256"/>
            <ac:spMk id="59" creationId="{00000000-0000-0000-0000-000000000000}"/>
          </ac:spMkLst>
        </pc:spChg>
        <pc:spChg chg="mod">
          <ac:chgData name="Subhodip Chakraborty" userId="e86c071ad2c289ea" providerId="LiveId" clId="{9775EB7A-7442-43E9-9482-05D5E9608332}" dt="2025-11-04T20:57:14.734" v="2042" actId="20577"/>
          <ac:spMkLst>
            <pc:docMk/>
            <pc:sldMk cId="0" sldId="256"/>
            <ac:spMk id="60" creationId="{00000000-0000-0000-0000-000000000000}"/>
          </ac:spMkLst>
        </pc:spChg>
      </pc:sldChg>
      <pc:sldChg chg="modSp mod ord">
        <pc:chgData name="Subhodip Chakraborty" userId="e86c071ad2c289ea" providerId="LiveId" clId="{9775EB7A-7442-43E9-9482-05D5E9608332}" dt="2025-11-04T20:48:00.703" v="1868" actId="207"/>
        <pc:sldMkLst>
          <pc:docMk/>
          <pc:sldMk cId="0" sldId="257"/>
        </pc:sldMkLst>
        <pc:spChg chg="mod">
          <ac:chgData name="Subhodip Chakraborty" userId="e86c071ad2c289ea" providerId="LiveId" clId="{9775EB7A-7442-43E9-9482-05D5E9608332}" dt="2025-11-04T20:48:00.703" v="1868" actId="207"/>
          <ac:spMkLst>
            <pc:docMk/>
            <pc:sldMk cId="0" sldId="257"/>
            <ac:spMk id="65" creationId="{00000000-0000-0000-0000-000000000000}"/>
          </ac:spMkLst>
        </pc:spChg>
      </pc:sldChg>
      <pc:sldChg chg="modSp mod ord modNotes">
        <pc:chgData name="Subhodip Chakraborty" userId="e86c071ad2c289ea" providerId="LiveId" clId="{9775EB7A-7442-43E9-9482-05D5E9608332}" dt="2025-11-04T20:27:27.617" v="1178" actId="20577"/>
        <pc:sldMkLst>
          <pc:docMk/>
          <pc:sldMk cId="0" sldId="258"/>
        </pc:sldMkLst>
        <pc:spChg chg="mod">
          <ac:chgData name="Subhodip Chakraborty" userId="e86c071ad2c289ea" providerId="LiveId" clId="{9775EB7A-7442-43E9-9482-05D5E9608332}" dt="2025-11-04T20:27:27.617" v="1178" actId="20577"/>
          <ac:spMkLst>
            <pc:docMk/>
            <pc:sldMk cId="0" sldId="258"/>
            <ac:spMk id="70" creationId="{00000000-0000-0000-0000-000000000000}"/>
          </ac:spMkLst>
        </pc:spChg>
      </pc:sldChg>
      <pc:sldChg chg="modSp mod ord modNotes">
        <pc:chgData name="Subhodip Chakraborty" userId="e86c071ad2c289ea" providerId="LiveId" clId="{9775EB7A-7442-43E9-9482-05D5E9608332}" dt="2025-11-04T21:10:06.434" v="2136" actId="1076"/>
        <pc:sldMkLst>
          <pc:docMk/>
          <pc:sldMk cId="0" sldId="259"/>
        </pc:sldMkLst>
        <pc:spChg chg="mod">
          <ac:chgData name="Subhodip Chakraborty" userId="e86c071ad2c289ea" providerId="LiveId" clId="{9775EB7A-7442-43E9-9482-05D5E9608332}" dt="2025-11-04T20:24:10.533" v="921" actId="20577"/>
          <ac:spMkLst>
            <pc:docMk/>
            <pc:sldMk cId="0" sldId="259"/>
            <ac:spMk id="75" creationId="{00000000-0000-0000-0000-000000000000}"/>
          </ac:spMkLst>
        </pc:spChg>
        <pc:spChg chg="mod">
          <ac:chgData name="Subhodip Chakraborty" userId="e86c071ad2c289ea" providerId="LiveId" clId="{9775EB7A-7442-43E9-9482-05D5E9608332}" dt="2025-11-04T20:26:46.101" v="1158" actId="20577"/>
          <ac:spMkLst>
            <pc:docMk/>
            <pc:sldMk cId="0" sldId="259"/>
            <ac:spMk id="76" creationId="{00000000-0000-0000-0000-000000000000}"/>
          </ac:spMkLst>
        </pc:spChg>
        <pc:spChg chg="mod">
          <ac:chgData name="Subhodip Chakraborty" userId="e86c071ad2c289ea" providerId="LiveId" clId="{9775EB7A-7442-43E9-9482-05D5E9608332}" dt="2025-11-04T21:10:06.434" v="2136" actId="1076"/>
          <ac:spMkLst>
            <pc:docMk/>
            <pc:sldMk cId="0" sldId="259"/>
            <ac:spMk id="77" creationId="{00000000-0000-0000-0000-000000000000}"/>
          </ac:spMkLst>
        </pc:spChg>
      </pc:sldChg>
      <pc:sldChg chg="modSp mod ord modNotes">
        <pc:chgData name="Subhodip Chakraborty" userId="e86c071ad2c289ea" providerId="LiveId" clId="{9775EB7A-7442-43E9-9482-05D5E9608332}" dt="2025-11-04T21:04:09.177" v="2119" actId="14826"/>
        <pc:sldMkLst>
          <pc:docMk/>
          <pc:sldMk cId="0" sldId="260"/>
        </pc:sldMkLst>
        <pc:spChg chg="mod">
          <ac:chgData name="Subhodip Chakraborty" userId="e86c071ad2c289ea" providerId="LiveId" clId="{9775EB7A-7442-43E9-9482-05D5E9608332}" dt="2025-11-04T20:18:24.302" v="467" actId="255"/>
          <ac:spMkLst>
            <pc:docMk/>
            <pc:sldMk cId="0" sldId="260"/>
            <ac:spMk id="82" creationId="{00000000-0000-0000-0000-000000000000}"/>
          </ac:spMkLst>
        </pc:spChg>
        <pc:spChg chg="mod">
          <ac:chgData name="Subhodip Chakraborty" userId="e86c071ad2c289ea" providerId="LiveId" clId="{9775EB7A-7442-43E9-9482-05D5E9608332}" dt="2025-11-04T20:38:08.249" v="1425" actId="20577"/>
          <ac:spMkLst>
            <pc:docMk/>
            <pc:sldMk cId="0" sldId="260"/>
            <ac:spMk id="83" creationId="{00000000-0000-0000-0000-000000000000}"/>
          </ac:spMkLst>
        </pc:spChg>
        <pc:picChg chg="mod">
          <ac:chgData name="Subhodip Chakraborty" userId="e86c071ad2c289ea" providerId="LiveId" clId="{9775EB7A-7442-43E9-9482-05D5E9608332}" dt="2025-11-04T20:17:24.649" v="430" actId="14826"/>
          <ac:picMkLst>
            <pc:docMk/>
            <pc:sldMk cId="0" sldId="260"/>
            <ac:picMk id="84" creationId="{00000000-0000-0000-0000-000000000000}"/>
          </ac:picMkLst>
        </pc:picChg>
        <pc:picChg chg="mod">
          <ac:chgData name="Subhodip Chakraborty" userId="e86c071ad2c289ea" providerId="LiveId" clId="{9775EB7A-7442-43E9-9482-05D5E9608332}" dt="2025-11-04T21:04:09.177" v="2119" actId="14826"/>
          <ac:picMkLst>
            <pc:docMk/>
            <pc:sldMk cId="0" sldId="260"/>
            <ac:picMk id="85" creationId="{00000000-0000-0000-0000-000000000000}"/>
          </ac:picMkLst>
        </pc:picChg>
        <pc:picChg chg="mod">
          <ac:chgData name="Subhodip Chakraborty" userId="e86c071ad2c289ea" providerId="LiveId" clId="{9775EB7A-7442-43E9-9482-05D5E9608332}" dt="2025-11-04T20:17:54.522" v="432" actId="14826"/>
          <ac:picMkLst>
            <pc:docMk/>
            <pc:sldMk cId="0" sldId="260"/>
            <ac:picMk id="86" creationId="{00000000-0000-0000-0000-000000000000}"/>
          </ac:picMkLst>
        </pc:picChg>
      </pc:sldChg>
      <pc:sldChg chg="modSp mod">
        <pc:chgData name="Subhodip Chakraborty" userId="e86c071ad2c289ea" providerId="LiveId" clId="{9775EB7A-7442-43E9-9482-05D5E9608332}" dt="2025-11-04T20:31:15.749" v="1201" actId="20577"/>
        <pc:sldMkLst>
          <pc:docMk/>
          <pc:sldMk cId="0" sldId="261"/>
        </pc:sldMkLst>
        <pc:spChg chg="mod">
          <ac:chgData name="Subhodip Chakraborty" userId="e86c071ad2c289ea" providerId="LiveId" clId="{9775EB7A-7442-43E9-9482-05D5E9608332}" dt="2025-11-04T20:31:15.749" v="1201" actId="20577"/>
          <ac:spMkLst>
            <pc:docMk/>
            <pc:sldMk cId="0" sldId="261"/>
            <ac:spMk id="91" creationId="{00000000-0000-0000-0000-000000000000}"/>
          </ac:spMkLst>
        </pc:spChg>
      </pc:sldChg>
      <pc:sldChg chg="modSp mod ord modNotes">
        <pc:chgData name="Subhodip Chakraborty" userId="e86c071ad2c289ea" providerId="LiveId" clId="{9775EB7A-7442-43E9-9482-05D5E9608332}" dt="2025-11-04T20:32:40.090" v="1255" actId="207"/>
        <pc:sldMkLst>
          <pc:docMk/>
          <pc:sldMk cId="0" sldId="262"/>
        </pc:sldMkLst>
        <pc:spChg chg="mod">
          <ac:chgData name="Subhodip Chakraborty" userId="e86c071ad2c289ea" providerId="LiveId" clId="{9775EB7A-7442-43E9-9482-05D5E9608332}" dt="2025-11-04T20:32:40.090" v="1255" actId="207"/>
          <ac:spMkLst>
            <pc:docMk/>
            <pc:sldMk cId="0" sldId="262"/>
            <ac:spMk id="96" creationId="{00000000-0000-0000-0000-000000000000}"/>
          </ac:spMkLst>
        </pc:spChg>
      </pc:sldChg>
      <pc:sldChg chg="addSp delSp modSp mod ord">
        <pc:chgData name="Subhodip Chakraborty" userId="e86c071ad2c289ea" providerId="LiveId" clId="{9775EB7A-7442-43E9-9482-05D5E9608332}" dt="2025-11-04T20:14:03.030" v="426" actId="14826"/>
        <pc:sldMkLst>
          <pc:docMk/>
          <pc:sldMk cId="0" sldId="264"/>
        </pc:sldMkLst>
        <pc:spChg chg="add del mod">
          <ac:chgData name="Subhodip Chakraborty" userId="e86c071ad2c289ea" providerId="LiveId" clId="{9775EB7A-7442-43E9-9482-05D5E9608332}" dt="2025-11-04T20:04:38.492" v="416" actId="478"/>
          <ac:spMkLst>
            <pc:docMk/>
            <pc:sldMk cId="0" sldId="264"/>
            <ac:spMk id="3" creationId="{117CF815-BCDD-D345-A357-FE6C09E19C6D}"/>
          </ac:spMkLst>
        </pc:spChg>
        <pc:spChg chg="add mod">
          <ac:chgData name="Subhodip Chakraborty" userId="e86c071ad2c289ea" providerId="LiveId" clId="{9775EB7A-7442-43E9-9482-05D5E9608332}" dt="2025-11-04T20:04:26.242" v="413" actId="14100"/>
          <ac:spMkLst>
            <pc:docMk/>
            <pc:sldMk cId="0" sldId="264"/>
            <ac:spMk id="4" creationId="{E80DBA14-A7CE-3666-F4E3-5FD8375C2C24}"/>
          </ac:spMkLst>
        </pc:spChg>
        <pc:spChg chg="del">
          <ac:chgData name="Subhodip Chakraborty" userId="e86c071ad2c289ea" providerId="LiveId" clId="{9775EB7A-7442-43E9-9482-05D5E9608332}" dt="2025-11-04T20:03:49.538" v="397" actId="478"/>
          <ac:spMkLst>
            <pc:docMk/>
            <pc:sldMk cId="0" sldId="264"/>
            <ac:spMk id="110" creationId="{00000000-0000-0000-0000-000000000000}"/>
          </ac:spMkLst>
        </pc:spChg>
        <pc:picChg chg="add del mod">
          <ac:chgData name="Subhodip Chakraborty" userId="e86c071ad2c289ea" providerId="LiveId" clId="{9775EB7A-7442-43E9-9482-05D5E9608332}" dt="2025-11-04T20:14:03.030" v="426" actId="14826"/>
          <ac:picMkLst>
            <pc:docMk/>
            <pc:sldMk cId="0" sldId="264"/>
            <ac:picMk id="108" creationId="{00000000-0000-0000-0000-000000000000}"/>
          </ac:picMkLst>
        </pc:picChg>
        <pc:picChg chg="mod">
          <ac:chgData name="Subhodip Chakraborty" userId="e86c071ad2c289ea" providerId="LiveId" clId="{9775EB7A-7442-43E9-9482-05D5E9608332}" dt="2025-11-04T20:10:56.398" v="425" actId="1076"/>
          <ac:picMkLst>
            <pc:docMk/>
            <pc:sldMk cId="0" sldId="264"/>
            <ac:picMk id="109" creationId="{00000000-0000-0000-0000-000000000000}"/>
          </ac:picMkLst>
        </pc:picChg>
      </pc:sldChg>
      <pc:sldChg chg="modSp mod ord modNotes">
        <pc:chgData name="Subhodip Chakraborty" userId="e86c071ad2c289ea" providerId="LiveId" clId="{9775EB7A-7442-43E9-9482-05D5E9608332}" dt="2025-11-04T20:47:23.126" v="1867" actId="20577"/>
        <pc:sldMkLst>
          <pc:docMk/>
          <pc:sldMk cId="0" sldId="265"/>
        </pc:sldMkLst>
        <pc:spChg chg="mod">
          <ac:chgData name="Subhodip Chakraborty" userId="e86c071ad2c289ea" providerId="LiveId" clId="{9775EB7A-7442-43E9-9482-05D5E9608332}" dt="2025-11-04T20:47:23.126" v="1867" actId="20577"/>
          <ac:spMkLst>
            <pc:docMk/>
            <pc:sldMk cId="0" sldId="265"/>
            <ac:spMk id="116" creationId="{00000000-0000-0000-0000-000000000000}"/>
          </ac:spMkLst>
        </pc:spChg>
      </pc:sldChg>
      <pc:sldChg chg="modSp add mod ord">
        <pc:chgData name="Subhodip Chakraborty" userId="e86c071ad2c289ea" providerId="LiveId" clId="{9775EB7A-7442-43E9-9482-05D5E9608332}" dt="2025-11-04T20:33:11.866" v="1278" actId="20577"/>
        <pc:sldMkLst>
          <pc:docMk/>
          <pc:sldMk cId="3927801781" sldId="266"/>
        </pc:sldMkLst>
        <pc:spChg chg="mod">
          <ac:chgData name="Subhodip Chakraborty" userId="e86c071ad2c289ea" providerId="LiveId" clId="{9775EB7A-7442-43E9-9482-05D5E9608332}" dt="2025-11-04T20:33:11.866" v="1278" actId="20577"/>
          <ac:spMkLst>
            <pc:docMk/>
            <pc:sldMk cId="3927801781" sldId="266"/>
            <ac:spMk id="91" creationId="{3CF5D479-2700-9DD8-C293-47B2F09433C0}"/>
          </ac:spMkLst>
        </pc:spChg>
      </pc:sldChg>
      <pc:sldChg chg="modSp add mod">
        <pc:chgData name="Subhodip Chakraborty" userId="e86c071ad2c289ea" providerId="LiveId" clId="{9775EB7A-7442-43E9-9482-05D5E9608332}" dt="2025-11-04T20:33:30.534" v="1299" actId="20577"/>
        <pc:sldMkLst>
          <pc:docMk/>
          <pc:sldMk cId="2908753389" sldId="267"/>
        </pc:sldMkLst>
        <pc:spChg chg="mod">
          <ac:chgData name="Subhodip Chakraborty" userId="e86c071ad2c289ea" providerId="LiveId" clId="{9775EB7A-7442-43E9-9482-05D5E9608332}" dt="2025-11-04T20:33:30.534" v="1299" actId="20577"/>
          <ac:spMkLst>
            <pc:docMk/>
            <pc:sldMk cId="2908753389" sldId="267"/>
            <ac:spMk id="91" creationId="{861B2924-4322-E7DB-9377-A9E699CE3401}"/>
          </ac:spMkLst>
        </pc:spChg>
      </pc:sldChg>
      <pc:sldChg chg="modSp add mod ord">
        <pc:chgData name="Subhodip Chakraborty" userId="e86c071ad2c289ea" providerId="LiveId" clId="{9775EB7A-7442-43E9-9482-05D5E9608332}" dt="2025-11-04T20:44:22.807" v="1618"/>
        <pc:sldMkLst>
          <pc:docMk/>
          <pc:sldMk cId="1365756229" sldId="268"/>
        </pc:sldMkLst>
        <pc:spChg chg="mod">
          <ac:chgData name="Subhodip Chakraborty" userId="e86c071ad2c289ea" providerId="LiveId" clId="{9775EB7A-7442-43E9-9482-05D5E9608332}" dt="2025-11-04T20:33:44.215" v="1317" actId="20577"/>
          <ac:spMkLst>
            <pc:docMk/>
            <pc:sldMk cId="1365756229" sldId="268"/>
            <ac:spMk id="91" creationId="{6FB5CAE5-996E-AF89-52E4-4E00180F184C}"/>
          </ac:spMkLst>
        </pc:spChg>
      </pc:sldChg>
      <pc:sldChg chg="modSp add mod ord">
        <pc:chgData name="Subhodip Chakraborty" userId="e86c071ad2c289ea" providerId="LiveId" clId="{9775EB7A-7442-43E9-9482-05D5E9608332}" dt="2025-11-04T20:34:13.792" v="1347"/>
        <pc:sldMkLst>
          <pc:docMk/>
          <pc:sldMk cId="2927434165" sldId="269"/>
        </pc:sldMkLst>
        <pc:spChg chg="mod">
          <ac:chgData name="Subhodip Chakraborty" userId="e86c071ad2c289ea" providerId="LiveId" clId="{9775EB7A-7442-43E9-9482-05D5E9608332}" dt="2025-11-04T20:33:58.645" v="1339" actId="20577"/>
          <ac:spMkLst>
            <pc:docMk/>
            <pc:sldMk cId="2927434165" sldId="269"/>
            <ac:spMk id="91" creationId="{23139A4A-3597-D39F-1C24-73113A411899}"/>
          </ac:spMkLst>
        </pc:spChg>
      </pc:sldChg>
      <pc:sldChg chg="modSp add mod ord">
        <pc:chgData name="Subhodip Chakraborty" userId="e86c071ad2c289ea" providerId="LiveId" clId="{9775EB7A-7442-43E9-9482-05D5E9608332}" dt="2025-11-04T20:34:32.411" v="1373" actId="20577"/>
        <pc:sldMkLst>
          <pc:docMk/>
          <pc:sldMk cId="3932617586" sldId="270"/>
        </pc:sldMkLst>
        <pc:spChg chg="mod">
          <ac:chgData name="Subhodip Chakraborty" userId="e86c071ad2c289ea" providerId="LiveId" clId="{9775EB7A-7442-43E9-9482-05D5E9608332}" dt="2025-11-04T20:34:32.411" v="1373" actId="20577"/>
          <ac:spMkLst>
            <pc:docMk/>
            <pc:sldMk cId="3932617586" sldId="270"/>
            <ac:spMk id="91" creationId="{52F859E2-BB7C-F678-F31C-88C0A5E64070}"/>
          </ac:spMkLst>
        </pc:spChg>
      </pc:sldChg>
      <pc:sldChg chg="modSp add mod ord">
        <pc:chgData name="Subhodip Chakraborty" userId="e86c071ad2c289ea" providerId="LiveId" clId="{9775EB7A-7442-43E9-9482-05D5E9608332}" dt="2025-11-04T21:00:47.464" v="2118" actId="255"/>
        <pc:sldMkLst>
          <pc:docMk/>
          <pc:sldMk cId="4195689704" sldId="271"/>
        </pc:sldMkLst>
        <pc:spChg chg="mod">
          <ac:chgData name="Subhodip Chakraborty" userId="e86c071ad2c289ea" providerId="LiveId" clId="{9775EB7A-7442-43E9-9482-05D5E9608332}" dt="2025-11-04T21:00:47.464" v="2118" actId="255"/>
          <ac:spMkLst>
            <pc:docMk/>
            <pc:sldMk cId="4195689704" sldId="271"/>
            <ac:spMk id="96" creationId="{0DEAEE7E-76D7-6C5B-9680-A699632A6CD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c6f90357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57" name="Google Shape;57;gc6f90357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40D340B1-C131-6410-34E4-74259C3704AE}"/>
            </a:ext>
          </a:extLst>
        </p:cNvPr>
        <p:cNvGrpSpPr/>
        <p:nvPr/>
      </p:nvGrpSpPr>
      <p:grpSpPr>
        <a:xfrm>
          <a:off x="0" y="0"/>
          <a:ext cx="0" cy="0"/>
          <a:chOff x="0" y="0"/>
          <a:chExt cx="0" cy="0"/>
        </a:xfrm>
      </p:grpSpPr>
      <p:sp>
        <p:nvSpPr>
          <p:cNvPr id="93" name="Google Shape;93;gc6f90357f_0_31:notes">
            <a:extLst>
              <a:ext uri="{FF2B5EF4-FFF2-40B4-BE49-F238E27FC236}">
                <a16:creationId xmlns:a16="http://schemas.microsoft.com/office/drawing/2014/main" id="{50CD7318-BD97-CFC0-955C-817EDB68DA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94" name="Google Shape;94;gc6f90357f_0_31:notes">
            <a:extLst>
              <a:ext uri="{FF2B5EF4-FFF2-40B4-BE49-F238E27FC236}">
                <a16:creationId xmlns:a16="http://schemas.microsoft.com/office/drawing/2014/main" id="{E798A5FA-F65D-ACB1-C6CC-E7FF3E37A7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2982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c6f90357f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73" name="Google Shape;73;gc6f90357f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c6f90357f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8" name="Google Shape;68;gc6f90357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c6f90357f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80" name="Google Shape;80;gc6f90357f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6354F4D5-50F0-1A3C-65B2-A87930842AD9}"/>
            </a:ext>
          </a:extLst>
        </p:cNvPr>
        <p:cNvGrpSpPr/>
        <p:nvPr/>
      </p:nvGrpSpPr>
      <p:grpSpPr>
        <a:xfrm>
          <a:off x="0" y="0"/>
          <a:ext cx="0" cy="0"/>
          <a:chOff x="0" y="0"/>
          <a:chExt cx="0" cy="0"/>
        </a:xfrm>
      </p:grpSpPr>
      <p:sp>
        <p:nvSpPr>
          <p:cNvPr id="98" name="Google Shape;98;gc6f90357f_0_35:notes">
            <a:extLst>
              <a:ext uri="{FF2B5EF4-FFF2-40B4-BE49-F238E27FC236}">
                <a16:creationId xmlns:a16="http://schemas.microsoft.com/office/drawing/2014/main" id="{7745599E-F929-7EA2-8D46-E03DF81E41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99" name="Google Shape;99;gc6f90357f_0_35:notes">
            <a:extLst>
              <a:ext uri="{FF2B5EF4-FFF2-40B4-BE49-F238E27FC236}">
                <a16:creationId xmlns:a16="http://schemas.microsoft.com/office/drawing/2014/main" id="{61C2FECD-A14D-E46B-A7F1-D8652D73CF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61857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c6f90357f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89" name="Google Shape;89;gc6f90357f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844B8628-9FC5-9538-5FFC-0FBB6094C5F5}"/>
            </a:ext>
          </a:extLst>
        </p:cNvPr>
        <p:cNvGrpSpPr/>
        <p:nvPr/>
      </p:nvGrpSpPr>
      <p:grpSpPr>
        <a:xfrm>
          <a:off x="0" y="0"/>
          <a:ext cx="0" cy="0"/>
          <a:chOff x="0" y="0"/>
          <a:chExt cx="0" cy="0"/>
        </a:xfrm>
      </p:grpSpPr>
      <p:sp>
        <p:nvSpPr>
          <p:cNvPr id="112" name="Google Shape;112;gc6f90357f_0_47:notes">
            <a:extLst>
              <a:ext uri="{FF2B5EF4-FFF2-40B4-BE49-F238E27FC236}">
                <a16:creationId xmlns:a16="http://schemas.microsoft.com/office/drawing/2014/main" id="{7D6882D9-C420-41DE-F389-61C8A6BCC3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13" name="Google Shape;113;gc6f90357f_0_47:notes">
            <a:extLst>
              <a:ext uri="{FF2B5EF4-FFF2-40B4-BE49-F238E27FC236}">
                <a16:creationId xmlns:a16="http://schemas.microsoft.com/office/drawing/2014/main" id="{D03586D8-9B55-5746-C801-8199AA13F5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74809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9C5FE00A-8C0C-C812-82E9-189D9D7A2A69}"/>
            </a:ext>
          </a:extLst>
        </p:cNvPr>
        <p:cNvGrpSpPr/>
        <p:nvPr/>
      </p:nvGrpSpPr>
      <p:grpSpPr>
        <a:xfrm>
          <a:off x="0" y="0"/>
          <a:ext cx="0" cy="0"/>
          <a:chOff x="0" y="0"/>
          <a:chExt cx="0" cy="0"/>
        </a:xfrm>
      </p:grpSpPr>
      <p:sp>
        <p:nvSpPr>
          <p:cNvPr id="88" name="Google Shape;88;gc6f90357f_0_27:notes">
            <a:extLst>
              <a:ext uri="{FF2B5EF4-FFF2-40B4-BE49-F238E27FC236}">
                <a16:creationId xmlns:a16="http://schemas.microsoft.com/office/drawing/2014/main" id="{667F01DF-D380-0AA8-489C-A5D617093A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89" name="Google Shape;89;gc6f90357f_0_27:notes">
            <a:extLst>
              <a:ext uri="{FF2B5EF4-FFF2-40B4-BE49-F238E27FC236}">
                <a16:creationId xmlns:a16="http://schemas.microsoft.com/office/drawing/2014/main" id="{99A68093-61A9-C9DA-7784-0B34CDD2A1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40376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2E34A310-067D-26B7-E654-1DB76EBDD516}"/>
            </a:ext>
          </a:extLst>
        </p:cNvPr>
        <p:cNvGrpSpPr/>
        <p:nvPr/>
      </p:nvGrpSpPr>
      <p:grpSpPr>
        <a:xfrm>
          <a:off x="0" y="0"/>
          <a:ext cx="0" cy="0"/>
          <a:chOff x="0" y="0"/>
          <a:chExt cx="0" cy="0"/>
        </a:xfrm>
      </p:grpSpPr>
      <p:sp>
        <p:nvSpPr>
          <p:cNvPr id="88" name="Google Shape;88;gc6f90357f_0_27:notes">
            <a:extLst>
              <a:ext uri="{FF2B5EF4-FFF2-40B4-BE49-F238E27FC236}">
                <a16:creationId xmlns:a16="http://schemas.microsoft.com/office/drawing/2014/main" id="{E08FB02B-98B9-2082-2516-C261D630D1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89" name="Google Shape;89;gc6f90357f_0_27:notes">
            <a:extLst>
              <a:ext uri="{FF2B5EF4-FFF2-40B4-BE49-F238E27FC236}">
                <a16:creationId xmlns:a16="http://schemas.microsoft.com/office/drawing/2014/main" id="{9D72C6A5-BA4C-79C7-282E-116CAFCCC2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85151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c6f90357f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99" name="Google Shape;99;gc6f90357f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AA3DD4DD-85F0-6F10-BCFA-B9133D0FA1EB}"/>
            </a:ext>
          </a:extLst>
        </p:cNvPr>
        <p:cNvGrpSpPr/>
        <p:nvPr/>
      </p:nvGrpSpPr>
      <p:grpSpPr>
        <a:xfrm>
          <a:off x="0" y="0"/>
          <a:ext cx="0" cy="0"/>
          <a:chOff x="0" y="0"/>
          <a:chExt cx="0" cy="0"/>
        </a:xfrm>
      </p:grpSpPr>
      <p:sp>
        <p:nvSpPr>
          <p:cNvPr id="88" name="Google Shape;88;gc6f90357f_0_27:notes">
            <a:extLst>
              <a:ext uri="{FF2B5EF4-FFF2-40B4-BE49-F238E27FC236}">
                <a16:creationId xmlns:a16="http://schemas.microsoft.com/office/drawing/2014/main" id="{13BFDE1F-294F-958A-B61B-6DFEC3ABF0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89" name="Google Shape;89;gc6f90357f_0_27:notes">
            <a:extLst>
              <a:ext uri="{FF2B5EF4-FFF2-40B4-BE49-F238E27FC236}">
                <a16:creationId xmlns:a16="http://schemas.microsoft.com/office/drawing/2014/main" id="{D43A7E13-EBEF-29F6-B753-D5E0946058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64775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c6f90357f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13" name="Google Shape;113;gc6f90357f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AA0DC8D2-D6BF-A94F-16FE-08005B263B68}"/>
            </a:ext>
          </a:extLst>
        </p:cNvPr>
        <p:cNvGrpSpPr/>
        <p:nvPr/>
      </p:nvGrpSpPr>
      <p:grpSpPr>
        <a:xfrm>
          <a:off x="0" y="0"/>
          <a:ext cx="0" cy="0"/>
          <a:chOff x="0" y="0"/>
          <a:chExt cx="0" cy="0"/>
        </a:xfrm>
      </p:grpSpPr>
      <p:sp>
        <p:nvSpPr>
          <p:cNvPr id="88" name="Google Shape;88;gc6f90357f_0_27:notes">
            <a:extLst>
              <a:ext uri="{FF2B5EF4-FFF2-40B4-BE49-F238E27FC236}">
                <a16:creationId xmlns:a16="http://schemas.microsoft.com/office/drawing/2014/main" id="{F87C14A9-5BED-CA9C-0A58-155AC5F20B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89" name="Google Shape;89;gc6f90357f_0_27:notes">
            <a:extLst>
              <a:ext uri="{FF2B5EF4-FFF2-40B4-BE49-F238E27FC236}">
                <a16:creationId xmlns:a16="http://schemas.microsoft.com/office/drawing/2014/main" id="{6E37B002-9E52-A748-BCF4-C5F75544F1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15861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96A6D8E7-729C-D88E-AF21-D26EE594F2C1}"/>
            </a:ext>
          </a:extLst>
        </p:cNvPr>
        <p:cNvGrpSpPr/>
        <p:nvPr/>
      </p:nvGrpSpPr>
      <p:grpSpPr>
        <a:xfrm>
          <a:off x="0" y="0"/>
          <a:ext cx="0" cy="0"/>
          <a:chOff x="0" y="0"/>
          <a:chExt cx="0" cy="0"/>
        </a:xfrm>
      </p:grpSpPr>
      <p:sp>
        <p:nvSpPr>
          <p:cNvPr id="112" name="Google Shape;112;gc6f90357f_0_47:notes">
            <a:extLst>
              <a:ext uri="{FF2B5EF4-FFF2-40B4-BE49-F238E27FC236}">
                <a16:creationId xmlns:a16="http://schemas.microsoft.com/office/drawing/2014/main" id="{962C7A7A-2DC2-B842-9426-631011B30E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13" name="Google Shape;113;gc6f90357f_0_47:notes">
            <a:extLst>
              <a:ext uri="{FF2B5EF4-FFF2-40B4-BE49-F238E27FC236}">
                <a16:creationId xmlns:a16="http://schemas.microsoft.com/office/drawing/2014/main" id="{DEAD3726-3A63-D8AA-8B63-4F76401C2F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35671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9CF6E243-F3BC-47C8-796C-F3FD8C443CFC}"/>
            </a:ext>
          </a:extLst>
        </p:cNvPr>
        <p:cNvGrpSpPr/>
        <p:nvPr/>
      </p:nvGrpSpPr>
      <p:grpSpPr>
        <a:xfrm>
          <a:off x="0" y="0"/>
          <a:ext cx="0" cy="0"/>
          <a:chOff x="0" y="0"/>
          <a:chExt cx="0" cy="0"/>
        </a:xfrm>
      </p:grpSpPr>
      <p:sp>
        <p:nvSpPr>
          <p:cNvPr id="88" name="Google Shape;88;gc6f90357f_0_27:notes">
            <a:extLst>
              <a:ext uri="{FF2B5EF4-FFF2-40B4-BE49-F238E27FC236}">
                <a16:creationId xmlns:a16="http://schemas.microsoft.com/office/drawing/2014/main" id="{62767AD9-F0AD-FE23-601A-3D44580E4C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89" name="Google Shape;89;gc6f90357f_0_27:notes">
            <a:extLst>
              <a:ext uri="{FF2B5EF4-FFF2-40B4-BE49-F238E27FC236}">
                <a16:creationId xmlns:a16="http://schemas.microsoft.com/office/drawing/2014/main" id="{C2432C20-F00E-FACF-4120-AD60C0A71B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15798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4A4668F7-28FE-B818-C0E9-A5AB0F51E994}"/>
            </a:ext>
          </a:extLst>
        </p:cNvPr>
        <p:cNvGrpSpPr/>
        <p:nvPr/>
      </p:nvGrpSpPr>
      <p:grpSpPr>
        <a:xfrm>
          <a:off x="0" y="0"/>
          <a:ext cx="0" cy="0"/>
          <a:chOff x="0" y="0"/>
          <a:chExt cx="0" cy="0"/>
        </a:xfrm>
      </p:grpSpPr>
      <p:sp>
        <p:nvSpPr>
          <p:cNvPr id="98" name="Google Shape;98;gc6f90357f_0_35:notes">
            <a:extLst>
              <a:ext uri="{FF2B5EF4-FFF2-40B4-BE49-F238E27FC236}">
                <a16:creationId xmlns:a16="http://schemas.microsoft.com/office/drawing/2014/main" id="{66390BE6-9EA2-A9BE-B218-01BE6FAFB8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99" name="Google Shape;99;gc6f90357f_0_35:notes">
            <a:extLst>
              <a:ext uri="{FF2B5EF4-FFF2-40B4-BE49-F238E27FC236}">
                <a16:creationId xmlns:a16="http://schemas.microsoft.com/office/drawing/2014/main" id="{65DFFCF5-332F-011B-9A72-D687CBF6D7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50134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c6f90357f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06" name="Google Shape;106;gc6f90357f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 name="Google Shape;11;p2"/>
          <p:cNvCxnSpPr/>
          <p:nvPr/>
        </p:nvCxnSpPr>
        <p:spPr>
          <a:xfrm>
            <a:off x="641934" y="3597500"/>
            <a:ext cx="390300" cy="0"/>
          </a:xfrm>
          <a:prstGeom prst="straightConnector1">
            <a:avLst/>
          </a:prstGeom>
          <a:noFill/>
          <a:ln w="28575" cap="flat" cmpd="sng">
            <a:solidFill>
              <a:schemeClr val="accent1"/>
            </a:solidFill>
            <a:prstDash val="solid"/>
            <a:round/>
            <a:headEnd type="none" w="sm" len="sm"/>
            <a:tailEnd type="none" w="sm" len="sm"/>
          </a:ln>
        </p:spPr>
      </p:cxnSp>
      <p:sp>
        <p:nvSpPr>
          <p:cNvPr id="12" name="Google Shape;12;p2"/>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a:endParaRPr/>
          </a:p>
        </p:txBody>
      </p:sp>
      <p:sp>
        <p:nvSpPr>
          <p:cNvPr id="13" name="Google Shape;13;p2"/>
          <p:cNvSpPr txBox="1">
            <a:spLocks noGrp="1"/>
          </p:cNvSpPr>
          <p:nvPr>
            <p:ph type="subTitle" idx="1"/>
          </p:nvPr>
        </p:nvSpPr>
        <p:spPr>
          <a:xfrm>
            <a:off x="512700" y="3840639"/>
            <a:ext cx="8118600" cy="787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w="28575" cap="flat" cmpd="sng">
            <a:solidFill>
              <a:schemeClr val="lt2"/>
            </a:solidFill>
            <a:prstDash val="solid"/>
            <a:round/>
            <a:headEnd type="none" w="sm" len="sm"/>
            <a:tailEnd type="none" w="sm" len="sm"/>
          </a:ln>
        </p:spPr>
      </p:cxnSp>
      <p:sp>
        <p:nvSpPr>
          <p:cNvPr id="17" name="Google Shape;17;p3"/>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3" name="Google Shape;23;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7" name="Google Shape;27;p5"/>
          <p:cNvSpPr txBox="1">
            <a:spLocks noGrp="1"/>
          </p:cNvSpPr>
          <p:nvPr>
            <p:ph type="body" idx="2"/>
          </p:nvPr>
        </p:nvSpPr>
        <p:spPr>
          <a:xfrm>
            <a:off x="4832400" y="1171675"/>
            <a:ext cx="3999900" cy="3397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5" name="Google Shape;3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a:endParaRPr/>
          </a:p>
        </p:txBody>
      </p:sp>
      <p:sp>
        <p:nvSpPr>
          <p:cNvPr id="38" name="Google Shape;38;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9"/>
          <p:cNvCxnSpPr/>
          <p:nvPr/>
        </p:nvCxnSpPr>
        <p:spPr>
          <a:xfrm>
            <a:off x="5029675" y="4495500"/>
            <a:ext cx="686400" cy="0"/>
          </a:xfrm>
          <a:prstGeom prst="straightConnector1">
            <a:avLst/>
          </a:prstGeom>
          <a:noFill/>
          <a:ln w="19050" cap="flat" cmpd="sng">
            <a:solidFill>
              <a:schemeClr val="lt2"/>
            </a:solidFill>
            <a:prstDash val="solid"/>
            <a:round/>
            <a:headEnd type="none" w="sm" len="sm"/>
            <a:tailEnd type="none" w="sm" len="sm"/>
          </a:ln>
        </p:spPr>
      </p:cxnSp>
      <p:sp>
        <p:nvSpPr>
          <p:cNvPr id="42" name="Google Shape;42;p9"/>
          <p:cNvSpPr txBox="1">
            <a:spLocks noGrp="1"/>
          </p:cNvSpPr>
          <p:nvPr>
            <p:ph type="title"/>
          </p:nvPr>
        </p:nvSpPr>
        <p:spPr>
          <a:xfrm>
            <a:off x="265500" y="1382350"/>
            <a:ext cx="4045200" cy="13332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a:endParaRPr/>
          </a:p>
        </p:txBody>
      </p:sp>
      <p:sp>
        <p:nvSpPr>
          <p:cNvPr id="43" name="Google Shape;43;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4" name="Google Shape;4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accent1"/>
              </a:buClr>
              <a:buSzPts val="1800"/>
              <a:buChar char="●"/>
              <a:defRPr>
                <a:solidFill>
                  <a:schemeClr val="accent1"/>
                </a:solidFill>
              </a:defRPr>
            </a:lvl1pPr>
            <a:lvl2pPr marL="914400" lvl="1" indent="-317500">
              <a:spcBef>
                <a:spcPts val="1600"/>
              </a:spcBef>
              <a:spcAft>
                <a:spcPts val="0"/>
              </a:spcAft>
              <a:buClr>
                <a:schemeClr val="accent1"/>
              </a:buClr>
              <a:buSzPts val="1400"/>
              <a:buChar char="○"/>
              <a:defRPr>
                <a:solidFill>
                  <a:schemeClr val="accent1"/>
                </a:solidFill>
              </a:defRPr>
            </a:lvl2pPr>
            <a:lvl3pPr marL="1371600" lvl="2" indent="-317500">
              <a:spcBef>
                <a:spcPts val="1600"/>
              </a:spcBef>
              <a:spcAft>
                <a:spcPts val="0"/>
              </a:spcAft>
              <a:buClr>
                <a:schemeClr val="accent1"/>
              </a:buClr>
              <a:buSzPts val="1400"/>
              <a:buChar char="■"/>
              <a:defRPr>
                <a:solidFill>
                  <a:schemeClr val="accent1"/>
                </a:solidFill>
              </a:defRPr>
            </a:lvl3pPr>
            <a:lvl4pPr marL="1828800" lvl="3" indent="-317500">
              <a:spcBef>
                <a:spcPts val="1600"/>
              </a:spcBef>
              <a:spcAft>
                <a:spcPts val="0"/>
              </a:spcAft>
              <a:buClr>
                <a:schemeClr val="accent1"/>
              </a:buClr>
              <a:buSzPts val="1400"/>
              <a:buChar char="●"/>
              <a:defRPr>
                <a:solidFill>
                  <a:schemeClr val="accent1"/>
                </a:solidFill>
              </a:defRPr>
            </a:lvl4pPr>
            <a:lvl5pPr marL="2286000" lvl="4" indent="-317500">
              <a:spcBef>
                <a:spcPts val="1600"/>
              </a:spcBef>
              <a:spcAft>
                <a:spcPts val="0"/>
              </a:spcAft>
              <a:buClr>
                <a:schemeClr val="accent1"/>
              </a:buClr>
              <a:buSzPts val="1400"/>
              <a:buChar char="○"/>
              <a:defRPr>
                <a:solidFill>
                  <a:schemeClr val="accent1"/>
                </a:solidFill>
              </a:defRPr>
            </a:lvl5pPr>
            <a:lvl6pPr marL="2743200" lvl="5" indent="-317500">
              <a:spcBef>
                <a:spcPts val="1600"/>
              </a:spcBef>
              <a:spcAft>
                <a:spcPts val="0"/>
              </a:spcAft>
              <a:buClr>
                <a:schemeClr val="accent1"/>
              </a:buClr>
              <a:buSzPts val="1400"/>
              <a:buChar char="■"/>
              <a:defRPr>
                <a:solidFill>
                  <a:schemeClr val="accent1"/>
                </a:solidFill>
              </a:defRPr>
            </a:lvl6pPr>
            <a:lvl7pPr marL="3200400" lvl="6" indent="-317500">
              <a:spcBef>
                <a:spcPts val="1600"/>
              </a:spcBef>
              <a:spcAft>
                <a:spcPts val="0"/>
              </a:spcAft>
              <a:buClr>
                <a:schemeClr val="accent1"/>
              </a:buClr>
              <a:buSzPts val="1400"/>
              <a:buChar char="●"/>
              <a:defRPr>
                <a:solidFill>
                  <a:schemeClr val="accent1"/>
                </a:solidFill>
              </a:defRPr>
            </a:lvl7pPr>
            <a:lvl8pPr marL="3657600" lvl="7" indent="-317500">
              <a:spcBef>
                <a:spcPts val="1600"/>
              </a:spcBef>
              <a:spcAft>
                <a:spcPts val="0"/>
              </a:spcAft>
              <a:buClr>
                <a:schemeClr val="accent1"/>
              </a:buClr>
              <a:buSzPts val="1400"/>
              <a:buChar char="○"/>
              <a:defRPr>
                <a:solidFill>
                  <a:schemeClr val="accent1"/>
                </a:solidFill>
              </a:defRPr>
            </a:lvl8pPr>
            <a:lvl9pPr marL="4114800" lvl="8" indent="-317500">
              <a:spcBef>
                <a:spcPts val="1600"/>
              </a:spcBef>
              <a:spcAft>
                <a:spcPts val="1600"/>
              </a:spcAft>
              <a:buClr>
                <a:schemeClr val="accent1"/>
              </a:buClr>
              <a:buSzPts val="1400"/>
              <a:buChar char="■"/>
              <a:defRPr>
                <a:solidFill>
                  <a:schemeClr val="accent1"/>
                </a:solidFill>
              </a:defRPr>
            </a:lvl9pPr>
          </a:lstStyle>
          <a:p>
            <a:endParaRPr/>
          </a:p>
        </p:txBody>
      </p:sp>
      <p:sp>
        <p:nvSpPr>
          <p:cNvPr id="45" name="Google Shape;4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8" name="Google Shape;48;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311700" y="1039650"/>
            <a:ext cx="8520600" cy="2106300"/>
          </a:xfrm>
          <a:prstGeom prst="rect">
            <a:avLst/>
          </a:prstGeom>
        </p:spPr>
        <p:txBody>
          <a:bodyPr spcFirstLastPara="1" wrap="square" lIns="91425" tIns="91425" rIns="91425" bIns="91425" anchor="b" anchorCtr="0">
            <a:no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51" name="Google Shape;51;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2" name="Google Shape;52;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perback">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6132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a:endParaRPr/>
          </a:p>
        </p:txBody>
      </p:sp>
      <p:sp>
        <p:nvSpPr>
          <p:cNvPr id="7" name="Google Shape;7;p1"/>
          <p:cNvSpPr txBox="1">
            <a:spLocks noGrp="1"/>
          </p:cNvSpPr>
          <p:nvPr>
            <p:ph type="body" idx="1"/>
          </p:nvPr>
        </p:nvSpPr>
        <p:spPr>
          <a:xfrm>
            <a:off x="311700" y="1171600"/>
            <a:ext cx="8520600" cy="3397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marL="914400" lvl="1"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marL="1371600" lvl="2"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marL="1828800" lvl="3"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marL="2286000" lvl="4"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marL="2743200" lvl="5"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marL="3200400" lvl="6"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marL="3657600" lvl="7"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marL="4114800" lvl="8" indent="-3175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3.jpg"/><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8.xml"/><Relationship Id="rId1" Type="http://schemas.openxmlformats.org/officeDocument/2006/relationships/slideLayout" Target="../slideLayouts/slideLayout9.xml"/><Relationship Id="rId4" Type="http://schemas.openxmlformats.org/officeDocument/2006/relationships/image" Target="../media/image2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0" name="Google Shape;60;p13"/>
          <p:cNvSpPr txBox="1">
            <a:spLocks noGrp="1"/>
          </p:cNvSpPr>
          <p:nvPr>
            <p:ph type="subTitle" idx="1"/>
          </p:nvPr>
        </p:nvSpPr>
        <p:spPr>
          <a:xfrm>
            <a:off x="423490" y="2706029"/>
            <a:ext cx="8118600" cy="862360"/>
          </a:xfrm>
          <a:prstGeom prst="rect">
            <a:avLst/>
          </a:prstGeom>
        </p:spPr>
        <p:txBody>
          <a:bodyPr spcFirstLastPara="1" wrap="square" lIns="91425" tIns="91425" rIns="91425" bIns="91425" anchor="t" anchorCtr="0">
            <a:noAutofit/>
          </a:bodyPr>
          <a:lstStyle/>
          <a:p>
            <a:pPr marL="0" lvl="0" indent="0"/>
            <a:r>
              <a:rPr lang="en-US" dirty="0">
                <a:solidFill>
                  <a:schemeClr val="bg1"/>
                </a:solidFill>
              </a:rPr>
              <a:t>Forecasting the Production of Wheat in Different States of India Using ARIMAX Models</a:t>
            </a:r>
          </a:p>
        </p:txBody>
      </p:sp>
      <p:sp>
        <p:nvSpPr>
          <p:cNvPr id="2" name="Google Shape;60;p13">
            <a:extLst>
              <a:ext uri="{FF2B5EF4-FFF2-40B4-BE49-F238E27FC236}">
                <a16:creationId xmlns:a16="http://schemas.microsoft.com/office/drawing/2014/main" id="{276D6898-1B99-D72D-2BBA-0F3BBD6933D3}"/>
              </a:ext>
            </a:extLst>
          </p:cNvPr>
          <p:cNvSpPr txBox="1">
            <a:spLocks/>
          </p:cNvSpPr>
          <p:nvPr/>
        </p:nvSpPr>
        <p:spPr>
          <a:xfrm>
            <a:off x="423490" y="3653883"/>
            <a:ext cx="8118600" cy="48693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2400"/>
              <a:buFont typeface="Old Standard TT"/>
              <a:buNone/>
              <a:defRPr sz="2400" b="0" i="0" u="none" strike="noStrike" cap="none">
                <a:solidFill>
                  <a:schemeClr val="accent2"/>
                </a:solidFill>
                <a:latin typeface="Old Standard TT"/>
                <a:ea typeface="Old Standard TT"/>
                <a:cs typeface="Old Standard TT"/>
                <a:sym typeface="Old Standard TT"/>
              </a:defRPr>
            </a:lvl1pPr>
            <a:lvl2pPr marL="914400" marR="0" lvl="1" indent="-317500" algn="l" rtl="0">
              <a:lnSpc>
                <a:spcPct val="100000"/>
              </a:lnSpc>
              <a:spcBef>
                <a:spcPts val="0"/>
              </a:spcBef>
              <a:spcAft>
                <a:spcPts val="0"/>
              </a:spcAft>
              <a:buClr>
                <a:schemeClr val="accent2"/>
              </a:buClr>
              <a:buSzPts val="2400"/>
              <a:buFont typeface="Old Standard TT"/>
              <a:buNone/>
              <a:defRPr sz="2400" b="0" i="0" u="none" strike="noStrike" cap="none">
                <a:solidFill>
                  <a:schemeClr val="accent2"/>
                </a:solidFill>
                <a:latin typeface="Old Standard TT"/>
                <a:ea typeface="Old Standard TT"/>
                <a:cs typeface="Old Standard TT"/>
                <a:sym typeface="Old Standard TT"/>
              </a:defRPr>
            </a:lvl2pPr>
            <a:lvl3pPr marL="1371600" marR="0" lvl="2" indent="-317500" algn="l" rtl="0">
              <a:lnSpc>
                <a:spcPct val="100000"/>
              </a:lnSpc>
              <a:spcBef>
                <a:spcPts val="0"/>
              </a:spcBef>
              <a:spcAft>
                <a:spcPts val="0"/>
              </a:spcAft>
              <a:buClr>
                <a:schemeClr val="accent2"/>
              </a:buClr>
              <a:buSzPts val="2400"/>
              <a:buFont typeface="Old Standard TT"/>
              <a:buNone/>
              <a:defRPr sz="2400" b="0" i="0" u="none" strike="noStrike" cap="none">
                <a:solidFill>
                  <a:schemeClr val="accent2"/>
                </a:solidFill>
                <a:latin typeface="Old Standard TT"/>
                <a:ea typeface="Old Standard TT"/>
                <a:cs typeface="Old Standard TT"/>
                <a:sym typeface="Old Standard TT"/>
              </a:defRPr>
            </a:lvl3pPr>
            <a:lvl4pPr marL="1828800" marR="0" lvl="3" indent="-317500" algn="l" rtl="0">
              <a:lnSpc>
                <a:spcPct val="100000"/>
              </a:lnSpc>
              <a:spcBef>
                <a:spcPts val="0"/>
              </a:spcBef>
              <a:spcAft>
                <a:spcPts val="0"/>
              </a:spcAft>
              <a:buClr>
                <a:schemeClr val="accent2"/>
              </a:buClr>
              <a:buSzPts val="2400"/>
              <a:buFont typeface="Old Standard TT"/>
              <a:buNone/>
              <a:defRPr sz="2400" b="0" i="0" u="none" strike="noStrike" cap="none">
                <a:solidFill>
                  <a:schemeClr val="accent2"/>
                </a:solidFill>
                <a:latin typeface="Old Standard TT"/>
                <a:ea typeface="Old Standard TT"/>
                <a:cs typeface="Old Standard TT"/>
                <a:sym typeface="Old Standard TT"/>
              </a:defRPr>
            </a:lvl4pPr>
            <a:lvl5pPr marL="2286000" marR="0" lvl="4" indent="-317500" algn="l" rtl="0">
              <a:lnSpc>
                <a:spcPct val="100000"/>
              </a:lnSpc>
              <a:spcBef>
                <a:spcPts val="0"/>
              </a:spcBef>
              <a:spcAft>
                <a:spcPts val="0"/>
              </a:spcAft>
              <a:buClr>
                <a:schemeClr val="accent2"/>
              </a:buClr>
              <a:buSzPts val="2400"/>
              <a:buFont typeface="Old Standard TT"/>
              <a:buNone/>
              <a:defRPr sz="2400" b="0" i="0" u="none" strike="noStrike" cap="none">
                <a:solidFill>
                  <a:schemeClr val="accent2"/>
                </a:solidFill>
                <a:latin typeface="Old Standard TT"/>
                <a:ea typeface="Old Standard TT"/>
                <a:cs typeface="Old Standard TT"/>
                <a:sym typeface="Old Standard TT"/>
              </a:defRPr>
            </a:lvl5pPr>
            <a:lvl6pPr marL="2743200" marR="0" lvl="5" indent="-317500" algn="l" rtl="0">
              <a:lnSpc>
                <a:spcPct val="100000"/>
              </a:lnSpc>
              <a:spcBef>
                <a:spcPts val="0"/>
              </a:spcBef>
              <a:spcAft>
                <a:spcPts val="0"/>
              </a:spcAft>
              <a:buClr>
                <a:schemeClr val="accent2"/>
              </a:buClr>
              <a:buSzPts val="2400"/>
              <a:buFont typeface="Old Standard TT"/>
              <a:buNone/>
              <a:defRPr sz="2400" b="0" i="0" u="none" strike="noStrike" cap="none">
                <a:solidFill>
                  <a:schemeClr val="accent2"/>
                </a:solidFill>
                <a:latin typeface="Old Standard TT"/>
                <a:ea typeface="Old Standard TT"/>
                <a:cs typeface="Old Standard TT"/>
                <a:sym typeface="Old Standard TT"/>
              </a:defRPr>
            </a:lvl6pPr>
            <a:lvl7pPr marL="3200400" marR="0" lvl="6" indent="-317500" algn="l" rtl="0">
              <a:lnSpc>
                <a:spcPct val="100000"/>
              </a:lnSpc>
              <a:spcBef>
                <a:spcPts val="0"/>
              </a:spcBef>
              <a:spcAft>
                <a:spcPts val="0"/>
              </a:spcAft>
              <a:buClr>
                <a:schemeClr val="accent2"/>
              </a:buClr>
              <a:buSzPts val="2400"/>
              <a:buFont typeface="Old Standard TT"/>
              <a:buNone/>
              <a:defRPr sz="2400" b="0" i="0" u="none" strike="noStrike" cap="none">
                <a:solidFill>
                  <a:schemeClr val="accent2"/>
                </a:solidFill>
                <a:latin typeface="Old Standard TT"/>
                <a:ea typeface="Old Standard TT"/>
                <a:cs typeface="Old Standard TT"/>
                <a:sym typeface="Old Standard TT"/>
              </a:defRPr>
            </a:lvl7pPr>
            <a:lvl8pPr marL="3657600" marR="0" lvl="7" indent="-317500" algn="l" rtl="0">
              <a:lnSpc>
                <a:spcPct val="100000"/>
              </a:lnSpc>
              <a:spcBef>
                <a:spcPts val="0"/>
              </a:spcBef>
              <a:spcAft>
                <a:spcPts val="0"/>
              </a:spcAft>
              <a:buClr>
                <a:schemeClr val="accent2"/>
              </a:buClr>
              <a:buSzPts val="2400"/>
              <a:buFont typeface="Old Standard TT"/>
              <a:buNone/>
              <a:defRPr sz="2400" b="0" i="0" u="none" strike="noStrike" cap="none">
                <a:solidFill>
                  <a:schemeClr val="accent2"/>
                </a:solidFill>
                <a:latin typeface="Old Standard TT"/>
                <a:ea typeface="Old Standard TT"/>
                <a:cs typeface="Old Standard TT"/>
                <a:sym typeface="Old Standard TT"/>
              </a:defRPr>
            </a:lvl8pPr>
            <a:lvl9pPr marL="4114800" marR="0" lvl="8" indent="-317500" algn="l" rtl="0">
              <a:lnSpc>
                <a:spcPct val="100000"/>
              </a:lnSpc>
              <a:spcBef>
                <a:spcPts val="0"/>
              </a:spcBef>
              <a:spcAft>
                <a:spcPts val="0"/>
              </a:spcAft>
              <a:buClr>
                <a:schemeClr val="accent2"/>
              </a:buClr>
              <a:buSzPts val="2400"/>
              <a:buFont typeface="Old Standard TT"/>
              <a:buNone/>
              <a:defRPr sz="2400" b="0" i="0" u="none" strike="noStrike" cap="none">
                <a:solidFill>
                  <a:schemeClr val="accent2"/>
                </a:solidFill>
                <a:latin typeface="Old Standard TT"/>
                <a:ea typeface="Old Standard TT"/>
                <a:cs typeface="Old Standard TT"/>
                <a:sym typeface="Old Standard TT"/>
              </a:defRPr>
            </a:lvl9pPr>
          </a:lstStyle>
          <a:p>
            <a:pPr marL="0" indent="0"/>
            <a:r>
              <a:rPr lang="en-IN" sz="1800" dirty="0"/>
              <a:t>By Subhodip Chakraborty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0E0C7FA0-EEC2-138A-76E4-A99B8A985C9C}"/>
            </a:ext>
          </a:extLst>
        </p:cNvPr>
        <p:cNvGrpSpPr/>
        <p:nvPr/>
      </p:nvGrpSpPr>
      <p:grpSpPr>
        <a:xfrm>
          <a:off x="0" y="0"/>
          <a:ext cx="0" cy="0"/>
          <a:chOff x="0" y="0"/>
          <a:chExt cx="0" cy="0"/>
        </a:xfrm>
      </p:grpSpPr>
      <p:sp>
        <p:nvSpPr>
          <p:cNvPr id="96" name="Google Shape;96;p19">
            <a:extLst>
              <a:ext uri="{FF2B5EF4-FFF2-40B4-BE49-F238E27FC236}">
                <a16:creationId xmlns:a16="http://schemas.microsoft.com/office/drawing/2014/main" id="{0DEAEE7E-76D7-6C5B-9680-A699632A6CD9}"/>
              </a:ext>
            </a:extLst>
          </p:cNvPr>
          <p:cNvSpPr txBox="1">
            <a:spLocks noGrp="1"/>
          </p:cNvSpPr>
          <p:nvPr>
            <p:ph type="title"/>
          </p:nvPr>
        </p:nvSpPr>
        <p:spPr>
          <a:xfrm>
            <a:off x="408473" y="884663"/>
            <a:ext cx="8586843" cy="4103649"/>
          </a:xfrm>
          <a:prstGeom prst="rect">
            <a:avLst/>
          </a:prstGeom>
        </p:spPr>
        <p:txBody>
          <a:bodyPr spcFirstLastPara="1" wrap="square" lIns="91425" tIns="91425" rIns="91425" bIns="91425" anchor="ctr" anchorCtr="0">
            <a:noAutofit/>
          </a:bodyPr>
          <a:lstStyle/>
          <a:p>
            <a:pPr algn="ctr"/>
            <a:r>
              <a:rPr lang="en" sz="2400" dirty="0">
                <a:solidFill>
                  <a:schemeClr val="tx1"/>
                </a:solidFill>
              </a:rPr>
              <a:t>Forecasting the Production of Wheat in Different States of India Using ARIMAX Models</a:t>
            </a:r>
            <a:br>
              <a:rPr lang="en" sz="2400" dirty="0">
                <a:solidFill>
                  <a:schemeClr val="tx1"/>
                </a:solidFill>
              </a:rPr>
            </a:br>
            <a:br>
              <a:rPr lang="en" sz="2400" dirty="0">
                <a:solidFill>
                  <a:schemeClr val="tx1"/>
                </a:solidFill>
              </a:rPr>
            </a:br>
            <a:r>
              <a:rPr lang="en-US" sz="1800" dirty="0"/>
              <a:t>A presentation by                      </a:t>
            </a:r>
            <a:br>
              <a:rPr lang="en-US" sz="2400" dirty="0"/>
            </a:br>
            <a:r>
              <a:rPr lang="en-US" sz="2400" dirty="0"/>
              <a:t>   Subhodip Chakraborty, University of Kalyani</a:t>
            </a:r>
            <a:br>
              <a:rPr lang="en-US" sz="2400" dirty="0"/>
            </a:br>
            <a:br>
              <a:rPr lang="en-US" sz="2400" dirty="0"/>
            </a:br>
            <a:r>
              <a:rPr lang="en-US" sz="1800" dirty="0"/>
              <a:t>Supervised by</a:t>
            </a:r>
            <a:br>
              <a:rPr lang="en-US" sz="2400" dirty="0"/>
            </a:br>
            <a:r>
              <a:rPr lang="en-US" sz="2400" dirty="0"/>
              <a:t>Koulika Paul</a:t>
            </a:r>
            <a:br>
              <a:rPr lang="en-US" sz="2400" dirty="0"/>
            </a:br>
            <a:br>
              <a:rPr lang="en-US" sz="2400" dirty="0"/>
            </a:br>
            <a:r>
              <a:rPr lang="en-US" sz="1800" dirty="0"/>
              <a:t>Period of Internship: 25</a:t>
            </a:r>
            <a:r>
              <a:rPr lang="en-US" sz="1800" baseline="30000" dirty="0"/>
              <a:t>th</a:t>
            </a:r>
            <a:r>
              <a:rPr lang="en-US" sz="1800" dirty="0"/>
              <a:t> August 2025 – 31</a:t>
            </a:r>
            <a:r>
              <a:rPr lang="en-US" sz="1800" baseline="30000" dirty="0"/>
              <a:t>st</a:t>
            </a:r>
            <a:r>
              <a:rPr lang="en-US" sz="1800" dirty="0"/>
              <a:t> October 2025 </a:t>
            </a:r>
            <a:br>
              <a:rPr lang="en-US" sz="1800" dirty="0"/>
            </a:br>
            <a:br>
              <a:rPr lang="en-US" sz="2400" dirty="0"/>
            </a:br>
            <a:r>
              <a:rPr lang="en-IN" sz="2400" dirty="0"/>
              <a:t>Presentation Submitted to: </a:t>
            </a:r>
            <a:r>
              <a:rPr lang="en-US" sz="2400" dirty="0"/>
              <a:t>IDEAS – Institute of Data Engineering, Analytics and Science Foundation, ISI Kolkata</a:t>
            </a:r>
            <a:br>
              <a:rPr lang="en" sz="2400" dirty="0">
                <a:solidFill>
                  <a:schemeClr val="tx1"/>
                </a:solidFill>
              </a:rPr>
            </a:br>
            <a:br>
              <a:rPr lang="en" sz="2400" dirty="0">
                <a:solidFill>
                  <a:schemeClr val="tx1"/>
                </a:solidFill>
              </a:rPr>
            </a:br>
            <a:endParaRPr sz="2400" dirty="0">
              <a:solidFill>
                <a:schemeClr val="tx1"/>
              </a:solidFill>
            </a:endParaRPr>
          </a:p>
        </p:txBody>
      </p:sp>
    </p:spTree>
    <p:extLst>
      <p:ext uri="{BB962C8B-B14F-4D97-AF65-F5344CB8AC3E}">
        <p14:creationId xmlns:p14="http://schemas.microsoft.com/office/powerpoint/2010/main" val="4195689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265500" y="1382350"/>
            <a:ext cx="4045200" cy="1333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OUTLINE</a:t>
            </a:r>
            <a:endParaRPr dirty="0"/>
          </a:p>
        </p:txBody>
      </p:sp>
      <p:sp>
        <p:nvSpPr>
          <p:cNvPr id="76" name="Google Shape;76;p16"/>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o</a:t>
            </a:r>
            <a:r>
              <a:rPr lang="en" dirty="0"/>
              <a:t>f the presentation</a:t>
            </a:r>
            <a:endParaRPr dirty="0"/>
          </a:p>
        </p:txBody>
      </p:sp>
      <p:sp>
        <p:nvSpPr>
          <p:cNvPr id="77" name="Google Shape;77;p16"/>
          <p:cNvSpPr txBox="1">
            <a:spLocks noGrp="1"/>
          </p:cNvSpPr>
          <p:nvPr>
            <p:ph type="body" idx="2"/>
          </p:nvPr>
        </p:nvSpPr>
        <p:spPr>
          <a:xfrm>
            <a:off x="4946934" y="554222"/>
            <a:ext cx="3837000" cy="4322656"/>
          </a:xfrm>
          <a:prstGeom prst="rect">
            <a:avLst/>
          </a:prstGeom>
        </p:spPr>
        <p:txBody>
          <a:bodyPr spcFirstLastPara="1" wrap="square" lIns="91425" tIns="91425" rIns="91425" bIns="91425" anchor="ctr" anchorCtr="0">
            <a:noAutofit/>
          </a:bodyPr>
          <a:lstStyle/>
          <a:p>
            <a:r>
              <a:rPr lang="en" dirty="0"/>
              <a:t>Introduction</a:t>
            </a:r>
          </a:p>
          <a:p>
            <a:pPr marL="114300" indent="0">
              <a:buNone/>
            </a:pPr>
            <a:endParaRPr lang="en" dirty="0"/>
          </a:p>
          <a:p>
            <a:r>
              <a:rPr lang="en" dirty="0"/>
              <a:t>Objective</a:t>
            </a:r>
          </a:p>
          <a:p>
            <a:pPr marL="114300" indent="0">
              <a:buNone/>
            </a:pPr>
            <a:endParaRPr lang="en" dirty="0"/>
          </a:p>
          <a:p>
            <a:r>
              <a:rPr lang="en" dirty="0"/>
              <a:t>Methodolgy</a:t>
            </a:r>
          </a:p>
          <a:p>
            <a:pPr marL="114300" indent="0">
              <a:buNone/>
            </a:pPr>
            <a:endParaRPr lang="en" dirty="0"/>
          </a:p>
          <a:p>
            <a:r>
              <a:rPr lang="en" dirty="0"/>
              <a:t>Results</a:t>
            </a:r>
          </a:p>
          <a:p>
            <a:pPr marL="114300" indent="0">
              <a:buNone/>
            </a:pPr>
            <a:endParaRPr lang="en" dirty="0"/>
          </a:p>
          <a:p>
            <a:r>
              <a:rPr lang="en" dirty="0"/>
              <a:t>Conclusions</a:t>
            </a:r>
          </a:p>
          <a:p>
            <a:pPr marL="114300" indent="0">
              <a:buNone/>
            </a:pPr>
            <a:endParaRPr lang="en" dirty="0"/>
          </a:p>
          <a:p>
            <a:r>
              <a:rPr lang="en" dirty="0"/>
              <a:t>Future works</a:t>
            </a:r>
          </a:p>
          <a:p>
            <a:endParaRPr lang="en" dirty="0"/>
          </a:p>
          <a:p>
            <a:r>
              <a:rPr lang="en" dirty="0"/>
              <a:t>References</a:t>
            </a:r>
          </a:p>
          <a:p>
            <a:endParaRPr lang="en" dirty="0"/>
          </a:p>
          <a:p>
            <a:endParaRPr lang="e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Introduction</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t>Wheat Production in India</a:t>
            </a:r>
            <a:endParaRPr sz="2800" dirty="0"/>
          </a:p>
        </p:txBody>
      </p:sp>
      <p:sp>
        <p:nvSpPr>
          <p:cNvPr id="83" name="Google Shape;83;p17"/>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p>
            <a:pPr lvl="0" indent="-330200">
              <a:buSzPts val="1600"/>
              <a:buAutoNum type="arabicPeriod"/>
            </a:pPr>
            <a:r>
              <a:rPr lang="en" sz="1600" dirty="0"/>
              <a:t>India is the 2</a:t>
            </a:r>
            <a:r>
              <a:rPr lang="en" sz="1600" baseline="30000" dirty="0"/>
              <a:t>nd</a:t>
            </a:r>
            <a:r>
              <a:rPr lang="en" sz="1600" dirty="0"/>
              <a:t> largest producer of Wheat </a:t>
            </a:r>
            <a:r>
              <a:rPr lang="en-IN" dirty="0"/>
              <a:t>(</a:t>
            </a:r>
            <a:r>
              <a:rPr lang="en-IN" i="1" dirty="0"/>
              <a:t>Triticum Spp.</a:t>
            </a:r>
            <a:r>
              <a:rPr lang="en-IN" dirty="0"/>
              <a:t>)</a:t>
            </a:r>
            <a:r>
              <a:rPr lang="en" sz="1600" dirty="0"/>
              <a:t> in the world.</a:t>
            </a:r>
            <a:endParaRPr sz="1600" dirty="0"/>
          </a:p>
          <a:p>
            <a:pPr marL="457200" lvl="0" indent="-330200" algn="l" rtl="0">
              <a:spcBef>
                <a:spcPts val="1600"/>
              </a:spcBef>
              <a:spcAft>
                <a:spcPts val="0"/>
              </a:spcAft>
              <a:buSzPts val="1600"/>
              <a:buAutoNum type="arabicPeriod"/>
            </a:pPr>
            <a:r>
              <a:rPr lang="en-IN" sz="1600" dirty="0"/>
              <a:t>After Rice, Wheat is the second most produced staple food crop of India.</a:t>
            </a:r>
          </a:p>
          <a:p>
            <a:pPr lvl="0" indent="-330200">
              <a:spcBef>
                <a:spcPts val="1600"/>
              </a:spcBef>
              <a:buSzPts val="1600"/>
              <a:buAutoNum type="arabicPeriod"/>
            </a:pPr>
            <a:r>
              <a:rPr lang="en-IN" sz="1600" dirty="0"/>
              <a:t>A large section of population of India relies primarily on Wheat. </a:t>
            </a:r>
            <a:endParaRPr sz="1600" dirty="0"/>
          </a:p>
          <a:p>
            <a:pPr lvl="0" indent="-330200">
              <a:spcBef>
                <a:spcPts val="1600"/>
              </a:spcBef>
              <a:buSzPts val="1600"/>
              <a:buAutoNum type="arabicPeriod"/>
            </a:pPr>
            <a:r>
              <a:rPr lang="en-IN" sz="1600" dirty="0"/>
              <a:t>For millions of people, especially in northern and central India, Wheat is the primary source of sustenance</a:t>
            </a:r>
            <a:endParaRPr sz="1600" dirty="0"/>
          </a:p>
          <a:p>
            <a:pPr marL="457200" lvl="0" indent="-330200" algn="l" rtl="0">
              <a:spcBef>
                <a:spcPts val="1600"/>
              </a:spcBef>
              <a:spcAft>
                <a:spcPts val="1600"/>
              </a:spcAft>
              <a:buSzPts val="1600"/>
              <a:buAutoNum type="arabicPeriod"/>
            </a:pPr>
            <a:endParaRPr sz="1600" dirty="0"/>
          </a:p>
        </p:txBody>
      </p:sp>
      <p:pic>
        <p:nvPicPr>
          <p:cNvPr id="84" name="Google Shape;84;p17"/>
          <p:cNvPicPr preferRelativeResize="0"/>
          <p:nvPr/>
        </p:nvPicPr>
        <p:blipFill>
          <a:blip r:embed="rId3"/>
          <a:srcRect l="13813" r="13813"/>
          <a:stretch/>
        </p:blipFill>
        <p:spPr>
          <a:xfrm>
            <a:off x="4705150" y="342525"/>
            <a:ext cx="2035799" cy="1955427"/>
          </a:xfrm>
          <a:prstGeom prst="rect">
            <a:avLst/>
          </a:prstGeom>
          <a:noFill/>
          <a:ln>
            <a:noFill/>
          </a:ln>
        </p:spPr>
      </p:pic>
      <p:pic>
        <p:nvPicPr>
          <p:cNvPr id="85" name="Google Shape;85;p17"/>
          <p:cNvPicPr preferRelativeResize="0"/>
          <p:nvPr/>
        </p:nvPicPr>
        <p:blipFill>
          <a:blip r:embed="rId4"/>
          <a:srcRect l="15141" r="15141"/>
          <a:stretch/>
        </p:blipFill>
        <p:spPr>
          <a:xfrm>
            <a:off x="6796425" y="342525"/>
            <a:ext cx="2035799" cy="1946700"/>
          </a:xfrm>
          <a:prstGeom prst="rect">
            <a:avLst/>
          </a:prstGeom>
          <a:noFill/>
          <a:ln>
            <a:noFill/>
          </a:ln>
        </p:spPr>
      </p:pic>
      <p:pic>
        <p:nvPicPr>
          <p:cNvPr id="86" name="Google Shape;86;p17"/>
          <p:cNvPicPr preferRelativeResize="0"/>
          <p:nvPr/>
        </p:nvPicPr>
        <p:blipFill>
          <a:blip r:embed="rId5"/>
          <a:srcRect t="6016" b="6016"/>
          <a:stretch/>
        </p:blipFill>
        <p:spPr>
          <a:xfrm>
            <a:off x="4705200" y="2336175"/>
            <a:ext cx="4127099" cy="24203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E0B80B05-7E16-C653-D2A0-7B1201D53689}"/>
            </a:ext>
          </a:extLst>
        </p:cNvPr>
        <p:cNvGrpSpPr/>
        <p:nvPr/>
      </p:nvGrpSpPr>
      <p:grpSpPr>
        <a:xfrm>
          <a:off x="0" y="0"/>
          <a:ext cx="0" cy="0"/>
          <a:chOff x="0" y="0"/>
          <a:chExt cx="0" cy="0"/>
        </a:xfrm>
      </p:grpSpPr>
      <p:sp>
        <p:nvSpPr>
          <p:cNvPr id="101" name="Google Shape;101;p20">
            <a:extLst>
              <a:ext uri="{FF2B5EF4-FFF2-40B4-BE49-F238E27FC236}">
                <a16:creationId xmlns:a16="http://schemas.microsoft.com/office/drawing/2014/main" id="{EDCA54D7-468C-8FC1-69FE-C81BF820A3E9}"/>
              </a:ext>
            </a:extLst>
          </p:cNvPr>
          <p:cNvSpPr txBox="1">
            <a:spLocks noGrp="1"/>
          </p:cNvSpPr>
          <p:nvPr>
            <p:ph type="body" idx="1"/>
          </p:nvPr>
        </p:nvSpPr>
        <p:spPr>
          <a:xfrm>
            <a:off x="311700" y="1171674"/>
            <a:ext cx="3999900" cy="3971825"/>
          </a:xfrm>
          <a:prstGeom prst="rect">
            <a:avLst/>
          </a:prstGeom>
        </p:spPr>
        <p:txBody>
          <a:bodyPr spcFirstLastPara="1" wrap="square" lIns="91425" tIns="91425" rIns="91425" bIns="91425" anchor="t" anchorCtr="0">
            <a:noAutofit/>
          </a:bodyPr>
          <a:lstStyle/>
          <a:p>
            <a:pPr marL="285750" indent="-285750"/>
            <a:r>
              <a:rPr lang="en-IN" dirty="0"/>
              <a:t>Forecasting is a process of using a time series model to predict future values with the help of historical, time-ordered data.</a:t>
            </a:r>
          </a:p>
          <a:p>
            <a:pPr marL="285750" indent="-285750"/>
            <a:endParaRPr lang="en-IN" sz="1600" dirty="0"/>
          </a:p>
          <a:p>
            <a:pPr marL="285750" indent="-285750"/>
            <a:r>
              <a:rPr lang="en-IN" dirty="0"/>
              <a:t>Using knowledge of the topics learnt in our Autmn internship at IDEAS, along with various statistical concepts, we have attempted to forecast yield of Wheat for the years 2023 -2025 in 14 different states of India applying ARIMAX model.</a:t>
            </a:r>
          </a:p>
          <a:p>
            <a:pPr marL="285750" indent="-285750"/>
            <a:endParaRPr lang="en-IN" dirty="0"/>
          </a:p>
          <a:p>
            <a:pPr marL="285750" indent="-285750"/>
            <a:r>
              <a:rPr lang="en-IN" dirty="0"/>
              <a:t>With exogenous variables such as temperature of states, amount of rainfall, amount of water available etc, using the data on these variables during 2000 – 2022.</a:t>
            </a:r>
            <a:endParaRPr sz="1600" dirty="0"/>
          </a:p>
        </p:txBody>
      </p:sp>
      <p:sp>
        <p:nvSpPr>
          <p:cNvPr id="102" name="Google Shape;102;p20">
            <a:extLst>
              <a:ext uri="{FF2B5EF4-FFF2-40B4-BE49-F238E27FC236}">
                <a16:creationId xmlns:a16="http://schemas.microsoft.com/office/drawing/2014/main" id="{7127480E-6DA9-0564-979A-5462FA116C2C}"/>
              </a:ext>
            </a:extLst>
          </p:cNvPr>
          <p:cNvSpPr txBox="1">
            <a:spLocks noGrp="1"/>
          </p:cNvSpPr>
          <p:nvPr>
            <p:ph type="body" idx="2"/>
          </p:nvPr>
        </p:nvSpPr>
        <p:spPr>
          <a:xfrm>
            <a:off x="4832400" y="445026"/>
            <a:ext cx="3999900" cy="4610194"/>
          </a:xfrm>
          <a:prstGeom prst="rect">
            <a:avLst/>
          </a:prstGeom>
        </p:spPr>
        <p:txBody>
          <a:bodyPr spcFirstLastPara="1" wrap="square" lIns="91425" tIns="91425" rIns="91425" bIns="91425" anchor="t" anchorCtr="0">
            <a:noAutofit/>
          </a:bodyPr>
          <a:lstStyle/>
          <a:p>
            <a:pPr marL="0" indent="0">
              <a:buNone/>
            </a:pPr>
            <a:r>
              <a:rPr lang="en-IN" sz="1800" b="1" dirty="0">
                <a:solidFill>
                  <a:schemeClr val="bg2"/>
                </a:solidFill>
              </a:rPr>
              <a:t>Topics covered in Internship</a:t>
            </a:r>
          </a:p>
          <a:p>
            <a:pPr marL="0" indent="0">
              <a:buNone/>
            </a:pPr>
            <a:endParaRPr lang="en-IN" sz="1200" b="1" dirty="0">
              <a:solidFill>
                <a:schemeClr val="bg2"/>
              </a:solidFill>
            </a:endParaRPr>
          </a:p>
          <a:p>
            <a:pPr marL="171450" indent="-171450"/>
            <a:r>
              <a:rPr lang="en-IN" sz="1200" b="1" dirty="0">
                <a:solidFill>
                  <a:schemeClr val="bg2"/>
                </a:solidFill>
              </a:rPr>
              <a:t>Basic Statistics for data science</a:t>
            </a:r>
            <a:endParaRPr lang="en-IN" sz="1000" b="1" dirty="0">
              <a:solidFill>
                <a:schemeClr val="bg2"/>
              </a:solidFill>
            </a:endParaRPr>
          </a:p>
          <a:p>
            <a:pPr marL="0" indent="0">
              <a:buNone/>
            </a:pPr>
            <a:endParaRPr lang="en-IN" sz="1200" b="1" dirty="0">
              <a:solidFill>
                <a:schemeClr val="bg2"/>
              </a:solidFill>
            </a:endParaRPr>
          </a:p>
          <a:p>
            <a:pPr marL="171450" indent="-171450"/>
            <a:r>
              <a:rPr lang="en-IN" sz="1200" b="1" dirty="0">
                <a:solidFill>
                  <a:schemeClr val="bg2"/>
                </a:solidFill>
              </a:rPr>
              <a:t>Data Visualization</a:t>
            </a:r>
            <a:endParaRPr lang="en-IN" sz="1000" b="1" dirty="0">
              <a:solidFill>
                <a:schemeClr val="bg2"/>
              </a:solidFill>
            </a:endParaRPr>
          </a:p>
          <a:p>
            <a:pPr marL="0" indent="0">
              <a:buNone/>
            </a:pPr>
            <a:endParaRPr lang="en-IN" sz="1200" b="1" dirty="0">
              <a:solidFill>
                <a:schemeClr val="bg2"/>
              </a:solidFill>
            </a:endParaRPr>
          </a:p>
          <a:p>
            <a:pPr marL="171450" indent="-171450"/>
            <a:r>
              <a:rPr lang="en-IN" sz="1200" b="1" dirty="0">
                <a:solidFill>
                  <a:schemeClr val="bg2"/>
                </a:solidFill>
              </a:rPr>
              <a:t>Introduction to GitHub and Cloud computing</a:t>
            </a:r>
            <a:endParaRPr lang="en-IN" sz="1000" b="1" dirty="0">
              <a:solidFill>
                <a:schemeClr val="bg2"/>
              </a:solidFill>
            </a:endParaRPr>
          </a:p>
          <a:p>
            <a:pPr marL="0" indent="0">
              <a:buNone/>
            </a:pPr>
            <a:endParaRPr lang="en-IN" sz="1200" b="1" dirty="0">
              <a:solidFill>
                <a:schemeClr val="bg2"/>
              </a:solidFill>
            </a:endParaRPr>
          </a:p>
          <a:p>
            <a:pPr marL="171450" indent="-171450"/>
            <a:r>
              <a:rPr lang="en-IN" sz="1200" b="1" dirty="0">
                <a:solidFill>
                  <a:schemeClr val="bg2"/>
                </a:solidFill>
              </a:rPr>
              <a:t>Streamlit-1 (Widget handling)</a:t>
            </a:r>
          </a:p>
          <a:p>
            <a:pPr marL="0" indent="0">
              <a:buNone/>
            </a:pPr>
            <a:endParaRPr lang="en-IN" sz="1200" b="1" dirty="0">
              <a:solidFill>
                <a:schemeClr val="bg2"/>
              </a:solidFill>
            </a:endParaRPr>
          </a:p>
          <a:p>
            <a:pPr marL="171450" indent="-171450"/>
            <a:r>
              <a:rPr lang="en-IN" sz="1200" b="1" dirty="0">
                <a:solidFill>
                  <a:schemeClr val="bg2"/>
                </a:solidFill>
              </a:rPr>
              <a:t>Streamlit-2 (Database Integration)</a:t>
            </a:r>
            <a:endParaRPr lang="en-IN" sz="1000" b="1" dirty="0">
              <a:solidFill>
                <a:schemeClr val="bg2"/>
              </a:solidFill>
            </a:endParaRPr>
          </a:p>
          <a:p>
            <a:pPr marL="0" indent="0">
              <a:buNone/>
            </a:pPr>
            <a:endParaRPr lang="en-IN" sz="1200" b="1" dirty="0">
              <a:solidFill>
                <a:schemeClr val="bg2"/>
              </a:solidFill>
            </a:endParaRPr>
          </a:p>
          <a:p>
            <a:pPr marL="171450" indent="-171450"/>
            <a:r>
              <a:rPr lang="en-IN" sz="1200" b="1" dirty="0">
                <a:solidFill>
                  <a:schemeClr val="bg2"/>
                </a:solidFill>
              </a:rPr>
              <a:t>Machine learning 1 (regression)</a:t>
            </a:r>
            <a:endParaRPr lang="en-IN" sz="1000" b="1" dirty="0">
              <a:solidFill>
                <a:schemeClr val="bg2"/>
              </a:solidFill>
            </a:endParaRPr>
          </a:p>
          <a:p>
            <a:pPr marL="171450" indent="-171450"/>
            <a:endParaRPr lang="en-IN" sz="1200" b="1" dirty="0">
              <a:solidFill>
                <a:schemeClr val="bg2"/>
              </a:solidFill>
            </a:endParaRPr>
          </a:p>
          <a:p>
            <a:pPr marL="171450" indent="-171450"/>
            <a:r>
              <a:rPr lang="en-IN" sz="1200" b="1" dirty="0">
                <a:solidFill>
                  <a:schemeClr val="bg2"/>
                </a:solidFill>
              </a:rPr>
              <a:t>Machine learning 2 (classification)</a:t>
            </a:r>
          </a:p>
          <a:p>
            <a:pPr marL="171450" indent="-171450"/>
            <a:endParaRPr lang="en-IN" sz="1200" b="1" dirty="0">
              <a:solidFill>
                <a:schemeClr val="bg2"/>
              </a:solidFill>
            </a:endParaRPr>
          </a:p>
          <a:p>
            <a:pPr marL="171450" indent="-171450"/>
            <a:r>
              <a:rPr lang="en-IN" sz="1200" b="1" dirty="0">
                <a:solidFill>
                  <a:schemeClr val="bg2"/>
                </a:solidFill>
              </a:rPr>
              <a:t>LLM fundamentals</a:t>
            </a:r>
          </a:p>
          <a:p>
            <a:pPr marL="0" indent="0">
              <a:buNone/>
            </a:pPr>
            <a:endParaRPr lang="en-IN" sz="1200" b="1" dirty="0">
              <a:solidFill>
                <a:schemeClr val="bg2"/>
              </a:solidFill>
            </a:endParaRPr>
          </a:p>
          <a:p>
            <a:pPr marL="171450" indent="-171450"/>
            <a:r>
              <a:rPr lang="en-IN" sz="1200" b="1" dirty="0">
                <a:solidFill>
                  <a:schemeClr val="bg2"/>
                </a:solidFill>
              </a:rPr>
              <a:t>Communication Skills</a:t>
            </a:r>
          </a:p>
          <a:p>
            <a:pPr marL="171450" indent="-171450"/>
            <a:endParaRPr sz="1200" b="1" dirty="0">
              <a:solidFill>
                <a:schemeClr val="bg2"/>
              </a:solidFill>
            </a:endParaRPr>
          </a:p>
        </p:txBody>
      </p:sp>
      <p:sp>
        <p:nvSpPr>
          <p:cNvPr id="103" name="Google Shape;103;p20">
            <a:extLst>
              <a:ext uri="{FF2B5EF4-FFF2-40B4-BE49-F238E27FC236}">
                <a16:creationId xmlns:a16="http://schemas.microsoft.com/office/drawing/2014/main" id="{4F67C853-F31D-FC09-5B28-72C1AB087F7B}"/>
              </a:ext>
            </a:extLst>
          </p:cNvPr>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Forecasting</a:t>
            </a:r>
            <a:endParaRPr dirty="0"/>
          </a:p>
        </p:txBody>
      </p:sp>
    </p:spTree>
    <p:extLst>
      <p:ext uri="{BB962C8B-B14F-4D97-AF65-F5344CB8AC3E}">
        <p14:creationId xmlns:p14="http://schemas.microsoft.com/office/powerpoint/2010/main" val="1690210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8"/>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Objective</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6510FCCE-D390-BD8B-28A8-97BEB6589122}"/>
            </a:ext>
          </a:extLst>
        </p:cNvPr>
        <p:cNvGrpSpPr/>
        <p:nvPr/>
      </p:nvGrpSpPr>
      <p:grpSpPr>
        <a:xfrm>
          <a:off x="0" y="0"/>
          <a:ext cx="0" cy="0"/>
          <a:chOff x="0" y="0"/>
          <a:chExt cx="0" cy="0"/>
        </a:xfrm>
      </p:grpSpPr>
      <p:sp>
        <p:nvSpPr>
          <p:cNvPr id="115" name="Google Shape;115;p22">
            <a:extLst>
              <a:ext uri="{FF2B5EF4-FFF2-40B4-BE49-F238E27FC236}">
                <a16:creationId xmlns:a16="http://schemas.microsoft.com/office/drawing/2014/main" id="{DE52C68E-0134-412D-93AB-9997A46BA427}"/>
              </a:ext>
            </a:extLst>
          </p:cNvPr>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IN" dirty="0"/>
              <a:t>Objective of the project </a:t>
            </a:r>
            <a:endParaRPr dirty="0"/>
          </a:p>
        </p:txBody>
      </p:sp>
      <p:sp>
        <p:nvSpPr>
          <p:cNvPr id="116" name="Google Shape;116;p22">
            <a:extLst>
              <a:ext uri="{FF2B5EF4-FFF2-40B4-BE49-F238E27FC236}">
                <a16:creationId xmlns:a16="http://schemas.microsoft.com/office/drawing/2014/main" id="{A042706E-6DF1-5170-A318-C95D7FAD9922}"/>
              </a:ext>
            </a:extLst>
          </p:cNvPr>
          <p:cNvSpPr txBox="1">
            <a:spLocks noGrp="1"/>
          </p:cNvSpPr>
          <p:nvPr>
            <p:ph type="body" idx="1"/>
          </p:nvPr>
        </p:nvSpPr>
        <p:spPr>
          <a:xfrm>
            <a:off x="311700" y="1171599"/>
            <a:ext cx="8520600" cy="3526875"/>
          </a:xfrm>
          <a:prstGeom prst="rect">
            <a:avLst/>
          </a:prstGeom>
        </p:spPr>
        <p:txBody>
          <a:bodyPr spcFirstLastPara="1" wrap="square" lIns="91425" tIns="91425" rIns="91425" bIns="91425" anchor="t" anchorCtr="0">
            <a:noAutofit/>
          </a:bodyPr>
          <a:lstStyle/>
          <a:p>
            <a:pPr marL="0" indent="0" algn="ctr">
              <a:spcAft>
                <a:spcPts val="1600"/>
              </a:spcAft>
              <a:buNone/>
            </a:pPr>
            <a:r>
              <a:rPr lang="en-US" dirty="0">
                <a:solidFill>
                  <a:schemeClr val="tx1"/>
                </a:solidFill>
              </a:rPr>
              <a:t>The objective behind this work is to forecast production of wheat in the presence of various exogeneous variables such as the temperature of the state (both maximum and minimum), the amount of rainfall in the state, full reservoir level (FRL), Live capacity of the FRL, observed water level and the amount of water available for the year 2023-2025 in 14 Indian states applying ARIMAX model. </a:t>
            </a:r>
            <a:br>
              <a:rPr lang="en-US" dirty="0">
                <a:solidFill>
                  <a:schemeClr val="tx1"/>
                </a:solidFill>
              </a:rPr>
            </a:br>
            <a:endParaRPr dirty="0"/>
          </a:p>
        </p:txBody>
      </p:sp>
    </p:spTree>
    <p:extLst>
      <p:ext uri="{BB962C8B-B14F-4D97-AF65-F5344CB8AC3E}">
        <p14:creationId xmlns:p14="http://schemas.microsoft.com/office/powerpoint/2010/main" val="2232208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427BB82F-1E13-EBE2-71BB-78E117C7ACE9}"/>
            </a:ext>
          </a:extLst>
        </p:cNvPr>
        <p:cNvGrpSpPr/>
        <p:nvPr/>
      </p:nvGrpSpPr>
      <p:grpSpPr>
        <a:xfrm>
          <a:off x="0" y="0"/>
          <a:ext cx="0" cy="0"/>
          <a:chOff x="0" y="0"/>
          <a:chExt cx="0" cy="0"/>
        </a:xfrm>
      </p:grpSpPr>
      <p:sp>
        <p:nvSpPr>
          <p:cNvPr id="91" name="Google Shape;91;p18">
            <a:extLst>
              <a:ext uri="{FF2B5EF4-FFF2-40B4-BE49-F238E27FC236}">
                <a16:creationId xmlns:a16="http://schemas.microsoft.com/office/drawing/2014/main" id="{3CF5D479-2700-9DD8-C293-47B2F09433C0}"/>
              </a:ext>
            </a:extLst>
          </p:cNvPr>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Methodology</a:t>
            </a:r>
            <a:endParaRPr dirty="0"/>
          </a:p>
        </p:txBody>
      </p:sp>
    </p:spTree>
    <p:extLst>
      <p:ext uri="{BB962C8B-B14F-4D97-AF65-F5344CB8AC3E}">
        <p14:creationId xmlns:p14="http://schemas.microsoft.com/office/powerpoint/2010/main" val="3927801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92D2D-1568-1FA3-E659-D26CCE2A4D75}"/>
              </a:ext>
            </a:extLst>
          </p:cNvPr>
          <p:cNvSpPr>
            <a:spLocks noGrp="1"/>
          </p:cNvSpPr>
          <p:nvPr>
            <p:ph type="title"/>
          </p:nvPr>
        </p:nvSpPr>
        <p:spPr/>
        <p:txBody>
          <a:bodyPr/>
          <a:lstStyle/>
          <a:p>
            <a:r>
              <a:rPr lang="en-IN" dirty="0"/>
              <a:t>Data Preparation</a:t>
            </a:r>
          </a:p>
        </p:txBody>
      </p:sp>
      <p:sp>
        <p:nvSpPr>
          <p:cNvPr id="3" name="Text Placeholder 2">
            <a:extLst>
              <a:ext uri="{FF2B5EF4-FFF2-40B4-BE49-F238E27FC236}">
                <a16:creationId xmlns:a16="http://schemas.microsoft.com/office/drawing/2014/main" id="{88DC714D-3592-D4FE-ADD0-F90EFA0E94BD}"/>
              </a:ext>
            </a:extLst>
          </p:cNvPr>
          <p:cNvSpPr>
            <a:spLocks noGrp="1"/>
          </p:cNvSpPr>
          <p:nvPr>
            <p:ph type="body" idx="1"/>
          </p:nvPr>
        </p:nvSpPr>
        <p:spPr/>
        <p:txBody>
          <a:bodyPr/>
          <a:lstStyle/>
          <a:p>
            <a:r>
              <a:rPr lang="en-IN" dirty="0"/>
              <a:t>Our dataset includes the daily yield of wheat during 2000 - 2022, for various states of India </a:t>
            </a:r>
            <a:r>
              <a:rPr lang="en-IN" i="1" dirty="0"/>
              <a:t>viz.</a:t>
            </a:r>
            <a:r>
              <a:rPr lang="en-IN" dirty="0"/>
              <a:t> Andhra Pradesh (AP), Chhattisgarh, Gujarat, Jharkhand, Karnataka, Madhya Pradesh (MP), Maharashtra, Odisha, Rajasthan, Tamil Nadu (TN), Telangana, Uttarakhand, Uttar Pradesh (UP) and West Bengal (WB). </a:t>
            </a:r>
          </a:p>
          <a:p>
            <a:endParaRPr lang="en-IN" sz="1400" dirty="0"/>
          </a:p>
          <a:p>
            <a:r>
              <a:rPr lang="en-IN" dirty="0"/>
              <a:t>Apart from the yield of wheat, the temperature of the state (both maximum and minimum), the amount of rainfall in the state, Full Reservoir Level (FRL), Live capacity of the FRL, observed water level and the amount of water available are also recorded for each day. </a:t>
            </a:r>
            <a:endParaRPr lang="en-IN" sz="1400" dirty="0"/>
          </a:p>
        </p:txBody>
      </p:sp>
    </p:spTree>
    <p:extLst>
      <p:ext uri="{BB962C8B-B14F-4D97-AF65-F5344CB8AC3E}">
        <p14:creationId xmlns:p14="http://schemas.microsoft.com/office/powerpoint/2010/main" val="789411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7D74A-29B0-A411-928E-A28945C311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00F49F-1CB5-B32A-062C-D565F045F5CF}"/>
              </a:ext>
            </a:extLst>
          </p:cNvPr>
          <p:cNvSpPr>
            <a:spLocks noGrp="1"/>
          </p:cNvSpPr>
          <p:nvPr>
            <p:ph type="title"/>
          </p:nvPr>
        </p:nvSpPr>
        <p:spPr/>
        <p:txBody>
          <a:bodyPr/>
          <a:lstStyle/>
          <a:p>
            <a:r>
              <a:rPr lang="en-IN" dirty="0"/>
              <a:t>Data Preparation</a:t>
            </a:r>
          </a:p>
        </p:txBody>
      </p:sp>
      <p:sp>
        <p:nvSpPr>
          <p:cNvPr id="3" name="Text Placeholder 2">
            <a:extLst>
              <a:ext uri="{FF2B5EF4-FFF2-40B4-BE49-F238E27FC236}">
                <a16:creationId xmlns:a16="http://schemas.microsoft.com/office/drawing/2014/main" id="{BCC3B6B5-AB4F-804E-8BC1-D657E0BBB966}"/>
              </a:ext>
            </a:extLst>
          </p:cNvPr>
          <p:cNvSpPr>
            <a:spLocks noGrp="1"/>
          </p:cNvSpPr>
          <p:nvPr>
            <p:ph type="body" idx="1"/>
          </p:nvPr>
        </p:nvSpPr>
        <p:spPr/>
        <p:txBody>
          <a:bodyPr/>
          <a:lstStyle/>
          <a:p>
            <a:r>
              <a:rPr lang="en-IN" dirty="0"/>
              <a:t>The data recorded for the states Odisha and TN are less than the minimum requirement of data for 5 years, so these states are not considered further.</a:t>
            </a:r>
          </a:p>
          <a:p>
            <a:endParaRPr lang="en-IN" dirty="0"/>
          </a:p>
          <a:p>
            <a:r>
              <a:rPr lang="en-IN" dirty="0"/>
              <a:t>For each state, the daily data of yield are first converted into monthly means, which were subsequently summed across months to obtain a single annual measure.</a:t>
            </a:r>
          </a:p>
          <a:p>
            <a:pPr marL="114300" indent="0">
              <a:buNone/>
            </a:pPr>
            <a:endParaRPr lang="en-IN" dirty="0"/>
          </a:p>
          <a:p>
            <a:r>
              <a:rPr lang="en-US" dirty="0"/>
              <a:t>The values of the exogenous variables are also converted into annual data for each year available during 2000 – 2022. </a:t>
            </a:r>
            <a:endParaRPr lang="en-IN" dirty="0"/>
          </a:p>
          <a:p>
            <a:endParaRPr lang="en-IN" sz="1400" dirty="0"/>
          </a:p>
          <a:p>
            <a:endParaRPr lang="en-IN" sz="1400" dirty="0"/>
          </a:p>
        </p:txBody>
      </p:sp>
    </p:spTree>
    <p:extLst>
      <p:ext uri="{BB962C8B-B14F-4D97-AF65-F5344CB8AC3E}">
        <p14:creationId xmlns:p14="http://schemas.microsoft.com/office/powerpoint/2010/main" val="1554850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F160-D292-967E-920B-4CB70433171B}"/>
              </a:ext>
            </a:extLst>
          </p:cNvPr>
          <p:cNvSpPr>
            <a:spLocks noGrp="1"/>
          </p:cNvSpPr>
          <p:nvPr>
            <p:ph type="title"/>
          </p:nvPr>
        </p:nvSpPr>
        <p:spPr/>
        <p:txBody>
          <a:bodyPr/>
          <a:lstStyle/>
          <a:p>
            <a:r>
              <a:rPr lang="en-IN" dirty="0"/>
              <a:t>Decomposition of the series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A9B38DA-9D08-617A-0FC4-9CF8798203C7}"/>
                  </a:ext>
                </a:extLst>
              </p:cNvPr>
              <p:cNvSpPr>
                <a:spLocks noGrp="1"/>
              </p:cNvSpPr>
              <p:nvPr>
                <p:ph type="body" idx="1"/>
              </p:nvPr>
            </p:nvSpPr>
            <p:spPr/>
            <p:txBody>
              <a:bodyPr/>
              <a:lstStyle/>
              <a:p>
                <a:endParaRPr lang="en-IN" dirty="0"/>
              </a:p>
              <a:p>
                <a:r>
                  <a:rPr lang="en-IN" dirty="0"/>
                  <a:t>We define T = {2000, 2001, ......,2021,2022}. Then the yield of wheat for each state becomes a timeseries {</a:t>
                </a:r>
                <a:r>
                  <a:rPr lang="en-IN" dirty="0" err="1"/>
                  <a:t>Y</a:t>
                </a:r>
                <a:r>
                  <a:rPr lang="en-IN" baseline="-25000" dirty="0" err="1"/>
                  <a:t>t</a:t>
                </a:r>
                <a:r>
                  <a:rPr lang="en-IN" dirty="0"/>
                  <a:t>: t</a:t>
                </a:r>
                <a14:m>
                  <m:oMath xmlns:m="http://schemas.openxmlformats.org/officeDocument/2006/math">
                    <m:r>
                      <a:rPr lang="en-IN" i="1">
                        <a:latin typeface="Cambria Math" panose="02040503050406030204" pitchFamily="18" charset="0"/>
                      </a:rPr>
                      <m:t> ∈ </m:t>
                    </m:r>
                  </m:oMath>
                </a14:m>
                <a:r>
                  <a:rPr lang="en-IN" dirty="0"/>
                  <a:t>T}</a:t>
                </a:r>
              </a:p>
              <a:p>
                <a:endParaRPr lang="en-IN" dirty="0"/>
              </a:p>
              <a:p>
                <a:r>
                  <a:rPr lang="en-IN" dirty="0"/>
                  <a:t>This series is decomposed in Additive model of time series to check for the presence of trend, seasonality and random components.</a:t>
                </a:r>
              </a:p>
              <a:p>
                <a:endParaRPr lang="en-IN" dirty="0"/>
              </a:p>
              <a:p>
                <a:r>
                  <a:rPr lang="en-IN" dirty="0"/>
                  <a:t>Additive model of decomposition is chosen as the seasonal component of the series is consistent with time or years.</a:t>
                </a:r>
              </a:p>
            </p:txBody>
          </p:sp>
        </mc:Choice>
        <mc:Fallback xmlns="">
          <p:sp>
            <p:nvSpPr>
              <p:cNvPr id="3" name="Text Placeholder 2">
                <a:extLst>
                  <a:ext uri="{FF2B5EF4-FFF2-40B4-BE49-F238E27FC236}">
                    <a16:creationId xmlns:a16="http://schemas.microsoft.com/office/drawing/2014/main" id="{BA9B38DA-9D08-617A-0FC4-9CF8798203C7}"/>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095613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E833F-8A1D-CC7A-828F-606B7894B4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3E427C-5C42-B3BD-A968-5A320D2FE301}"/>
              </a:ext>
            </a:extLst>
          </p:cNvPr>
          <p:cNvSpPr>
            <a:spLocks noGrp="1"/>
          </p:cNvSpPr>
          <p:nvPr>
            <p:ph type="title"/>
          </p:nvPr>
        </p:nvSpPr>
        <p:spPr/>
        <p:txBody>
          <a:bodyPr/>
          <a:lstStyle/>
          <a:p>
            <a:r>
              <a:rPr lang="en-IN" dirty="0"/>
              <a:t>Decomposition of the series</a:t>
            </a:r>
          </a:p>
        </p:txBody>
      </p:sp>
      <p:sp>
        <p:nvSpPr>
          <p:cNvPr id="3" name="Text Placeholder 2">
            <a:extLst>
              <a:ext uri="{FF2B5EF4-FFF2-40B4-BE49-F238E27FC236}">
                <a16:creationId xmlns:a16="http://schemas.microsoft.com/office/drawing/2014/main" id="{3B148AD1-8BF9-5EB0-7598-C0F228D82D51}"/>
              </a:ext>
            </a:extLst>
          </p:cNvPr>
          <p:cNvSpPr>
            <a:spLocks noGrp="1"/>
          </p:cNvSpPr>
          <p:nvPr>
            <p:ph type="body" idx="1"/>
          </p:nvPr>
        </p:nvSpPr>
        <p:spPr/>
        <p:txBody>
          <a:bodyPr/>
          <a:lstStyle/>
          <a:p>
            <a:r>
              <a:rPr lang="en-IN" dirty="0"/>
              <a:t>The general tendency of the data to increase or decrease over a long period of time is known as Trend. </a:t>
            </a:r>
          </a:p>
          <a:p>
            <a:endParaRPr lang="en-IN" dirty="0"/>
          </a:p>
          <a:p>
            <a:r>
              <a:rPr lang="en-IN" dirty="0"/>
              <a:t>The rhythmic forces operating in a regular and periodic manner year with period less than a year leads to “Seasonal variations” in a time series data. </a:t>
            </a:r>
          </a:p>
          <a:p>
            <a:endParaRPr lang="en-IN" dirty="0"/>
          </a:p>
          <a:p>
            <a:r>
              <a:rPr lang="en-IN" dirty="0"/>
              <a:t>Apart from the regular components of a Time series mentioned above, a time series data generally contains fluctuations which are purely random, erratic, unforeseen, and unpredictable. These fluctuations are known as random movements. </a:t>
            </a:r>
          </a:p>
        </p:txBody>
      </p:sp>
    </p:spTree>
    <p:extLst>
      <p:ext uri="{BB962C8B-B14F-4D97-AF65-F5344CB8AC3E}">
        <p14:creationId xmlns:p14="http://schemas.microsoft.com/office/powerpoint/2010/main" val="2975276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3BAFF-F8C9-A464-FFA3-6B7006DFAA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033085-5EEB-CE07-CEEC-C36E42D2E62D}"/>
              </a:ext>
            </a:extLst>
          </p:cNvPr>
          <p:cNvSpPr>
            <a:spLocks noGrp="1"/>
          </p:cNvSpPr>
          <p:nvPr>
            <p:ph type="title"/>
          </p:nvPr>
        </p:nvSpPr>
        <p:spPr/>
        <p:txBody>
          <a:bodyPr/>
          <a:lstStyle/>
          <a:p>
            <a:r>
              <a:rPr lang="en-IN" dirty="0"/>
              <a:t>Decomposition of the series</a:t>
            </a:r>
          </a:p>
        </p:txBody>
      </p:sp>
      <p:sp>
        <p:nvSpPr>
          <p:cNvPr id="3" name="Text Placeholder 2">
            <a:extLst>
              <a:ext uri="{FF2B5EF4-FFF2-40B4-BE49-F238E27FC236}">
                <a16:creationId xmlns:a16="http://schemas.microsoft.com/office/drawing/2014/main" id="{942D85C0-3FA7-6574-D5E9-6092AB225EE9}"/>
              </a:ext>
            </a:extLst>
          </p:cNvPr>
          <p:cNvSpPr>
            <a:spLocks noGrp="1"/>
          </p:cNvSpPr>
          <p:nvPr>
            <p:ph type="body" idx="1"/>
          </p:nvPr>
        </p:nvSpPr>
        <p:spPr/>
        <p:txBody>
          <a:bodyPr/>
          <a:lstStyle/>
          <a:p>
            <a:r>
              <a:rPr lang="en-IN" dirty="0"/>
              <a:t>Suppose at a year t, the value of a time series is </a:t>
            </a:r>
            <a:r>
              <a:rPr lang="en-IN" dirty="0" err="1"/>
              <a:t>Y</a:t>
            </a:r>
            <a:r>
              <a:rPr lang="en-IN" baseline="-25000" dirty="0" err="1"/>
              <a:t>t</a:t>
            </a:r>
            <a:r>
              <a:rPr lang="en-IN" dirty="0"/>
              <a:t>, and that of trend, seasonal variations, cyclical variations and random movements are T</a:t>
            </a:r>
            <a:r>
              <a:rPr lang="en-IN" baseline="-25000" dirty="0"/>
              <a:t>t</a:t>
            </a:r>
            <a:r>
              <a:rPr lang="en-IN" dirty="0"/>
              <a:t>, S</a:t>
            </a:r>
            <a:r>
              <a:rPr lang="en-IN" baseline="-25000" dirty="0"/>
              <a:t>t</a:t>
            </a:r>
            <a:r>
              <a:rPr lang="en-IN" dirty="0"/>
              <a:t>, C</a:t>
            </a:r>
            <a:r>
              <a:rPr lang="en-IN" baseline="-25000" dirty="0"/>
              <a:t>t </a:t>
            </a:r>
            <a:r>
              <a:rPr lang="en-IN" dirty="0"/>
              <a:t>and R</a:t>
            </a:r>
            <a:r>
              <a:rPr lang="en-IN" baseline="-25000" dirty="0"/>
              <a:t>t</a:t>
            </a:r>
            <a:r>
              <a:rPr lang="en-IN" dirty="0"/>
              <a:t> respectively.  </a:t>
            </a:r>
          </a:p>
          <a:p>
            <a:endParaRPr lang="en-IN" dirty="0"/>
          </a:p>
          <a:p>
            <a:r>
              <a:rPr lang="en-IN" dirty="0"/>
              <a:t>Here, a time series is expressed as </a:t>
            </a:r>
          </a:p>
          <a:p>
            <a:pPr marL="114300" indent="0" algn="ctr">
              <a:buNone/>
            </a:pPr>
            <a:r>
              <a:rPr lang="en-IN" dirty="0" err="1"/>
              <a:t>Y</a:t>
            </a:r>
            <a:r>
              <a:rPr lang="en-IN" baseline="-25000" dirty="0" err="1"/>
              <a:t>t</a:t>
            </a:r>
            <a:r>
              <a:rPr lang="en-IN" dirty="0"/>
              <a:t> = T</a:t>
            </a:r>
            <a:r>
              <a:rPr lang="en-IN" baseline="-25000" dirty="0"/>
              <a:t>t</a:t>
            </a:r>
            <a:r>
              <a:rPr lang="en-IN" dirty="0"/>
              <a:t> + S</a:t>
            </a:r>
            <a:r>
              <a:rPr lang="en-IN" baseline="-25000" dirty="0"/>
              <a:t>t</a:t>
            </a:r>
            <a:r>
              <a:rPr lang="en-IN" dirty="0"/>
              <a:t> + C</a:t>
            </a:r>
            <a:r>
              <a:rPr lang="en-IN" baseline="-25000" dirty="0"/>
              <a:t>t </a:t>
            </a:r>
            <a:r>
              <a:rPr lang="en-IN" dirty="0"/>
              <a:t>+ R</a:t>
            </a:r>
            <a:r>
              <a:rPr lang="en-IN" baseline="-25000" dirty="0"/>
              <a:t>t          </a:t>
            </a:r>
            <a:r>
              <a:rPr lang="en-IN" dirty="0"/>
              <a:t>                                     (1)</a:t>
            </a:r>
          </a:p>
          <a:p>
            <a:pPr marL="114300" indent="0" algn="ctr">
              <a:buNone/>
            </a:pPr>
            <a:endParaRPr lang="en-IN" dirty="0"/>
          </a:p>
          <a:p>
            <a:r>
              <a:rPr lang="en-IN" dirty="0"/>
              <a:t>The additive model assumes that all the components of a time series operate independently of each other. </a:t>
            </a:r>
          </a:p>
        </p:txBody>
      </p:sp>
    </p:spTree>
    <p:extLst>
      <p:ext uri="{BB962C8B-B14F-4D97-AF65-F5344CB8AC3E}">
        <p14:creationId xmlns:p14="http://schemas.microsoft.com/office/powerpoint/2010/main" val="3552199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D9956-310A-0421-CA83-34A75D3BC6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59D464-E24C-CF47-34A9-353C62971D1E}"/>
              </a:ext>
            </a:extLst>
          </p:cNvPr>
          <p:cNvSpPr>
            <a:spLocks noGrp="1"/>
          </p:cNvSpPr>
          <p:nvPr>
            <p:ph type="title"/>
          </p:nvPr>
        </p:nvSpPr>
        <p:spPr/>
        <p:txBody>
          <a:bodyPr/>
          <a:lstStyle/>
          <a:p>
            <a:r>
              <a:rPr lang="en-IN" dirty="0"/>
              <a:t>Stationarity of the series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D813F86-13B0-7F61-08BB-9B2F787E318B}"/>
                  </a:ext>
                </a:extLst>
              </p:cNvPr>
              <p:cNvSpPr>
                <a:spLocks noGrp="1"/>
              </p:cNvSpPr>
              <p:nvPr>
                <p:ph type="body" idx="1"/>
              </p:nvPr>
            </p:nvSpPr>
            <p:spPr/>
            <p:txBody>
              <a:bodyPr/>
              <a:lstStyle/>
              <a:p>
                <a:r>
                  <a:rPr lang="en-IN" dirty="0"/>
                  <a:t>The mean function of the time series {</a:t>
                </a:r>
                <a:r>
                  <a:rPr lang="en-IN" dirty="0" err="1"/>
                  <a:t>Y</a:t>
                </a:r>
                <a:r>
                  <a:rPr lang="en-IN" baseline="-25000" dirty="0" err="1"/>
                  <a:t>t</a:t>
                </a:r>
                <a:r>
                  <a:rPr lang="en-IN" dirty="0"/>
                  <a:t>: t</a:t>
                </a:r>
                <a14:m>
                  <m:oMath xmlns:m="http://schemas.openxmlformats.org/officeDocument/2006/math">
                    <m:r>
                      <a:rPr lang="en-IN" i="1">
                        <a:latin typeface="Cambria Math" panose="02040503050406030204" pitchFamily="18" charset="0"/>
                      </a:rPr>
                      <m:t> ∈ </m:t>
                    </m:r>
                  </m:oMath>
                </a14:m>
                <a:r>
                  <a:rPr lang="en-IN" dirty="0"/>
                  <a:t>T} is defined as µ(t) = E(</a:t>
                </a:r>
                <a:r>
                  <a:rPr lang="en-IN" dirty="0" err="1"/>
                  <a:t>Y</a:t>
                </a:r>
                <a:r>
                  <a:rPr lang="en-IN" baseline="-25000" dirty="0" err="1"/>
                  <a:t>t</a:t>
                </a:r>
                <a:r>
                  <a:rPr lang="en-IN" dirty="0"/>
                  <a:t>) and autocovariance function is defined as γ (s, t) = E (Y</a:t>
                </a:r>
                <a:r>
                  <a:rPr lang="en-IN" baseline="-25000" dirty="0"/>
                  <a:t>s</a:t>
                </a:r>
                <a:r>
                  <a:rPr lang="en-IN" dirty="0"/>
                  <a:t>, </a:t>
                </a:r>
                <a:r>
                  <a:rPr lang="en-IN" dirty="0" err="1"/>
                  <a:t>Y</a:t>
                </a:r>
                <a:r>
                  <a:rPr lang="en-IN" baseline="-25000" dirty="0" err="1"/>
                  <a:t>t</a:t>
                </a:r>
                <a:r>
                  <a:rPr lang="en-IN" dirty="0"/>
                  <a:t>). </a:t>
                </a:r>
              </a:p>
              <a:p>
                <a:endParaRPr lang="en-IN" dirty="0"/>
              </a:p>
              <a:p>
                <a:r>
                  <a:rPr lang="en-IN" dirty="0"/>
                  <a:t>The timeseries {</a:t>
                </a:r>
                <a:r>
                  <a:rPr lang="en-IN" dirty="0" err="1"/>
                  <a:t>Y</a:t>
                </a:r>
                <a:r>
                  <a:rPr lang="en-IN" baseline="-25000" dirty="0" err="1"/>
                  <a:t>t</a:t>
                </a:r>
                <a:r>
                  <a:rPr lang="en-IN" dirty="0"/>
                  <a:t>: t</a:t>
                </a:r>
                <a14:m>
                  <m:oMath xmlns:m="http://schemas.openxmlformats.org/officeDocument/2006/math">
                    <m:r>
                      <a:rPr lang="en-IN" i="1">
                        <a:latin typeface="Cambria Math" panose="02040503050406030204" pitchFamily="18" charset="0"/>
                      </a:rPr>
                      <m:t> ∈ </m:t>
                    </m:r>
                  </m:oMath>
                </a14:m>
                <a:r>
                  <a:rPr lang="en-IN" dirty="0"/>
                  <a:t>T} is said to be stationary or weakly stationary if   E|Y</a:t>
                </a:r>
                <a:r>
                  <a:rPr lang="en-IN" baseline="-25000" dirty="0"/>
                  <a:t>t</a:t>
                </a:r>
                <a:r>
                  <a:rPr lang="en-IN" dirty="0"/>
                  <a:t>|</a:t>
                </a:r>
                <a:r>
                  <a:rPr lang="en-IN" baseline="30000" dirty="0"/>
                  <a:t>2 </a:t>
                </a:r>
                <a:r>
                  <a:rPr lang="en-IN" dirty="0"/>
                  <a:t>&lt; ∞, µ(t) = µ and γ(t + u, t) = γ(u,0) for all t and u.</a:t>
                </a:r>
              </a:p>
              <a:p>
                <a:endParaRPr lang="en-IN" dirty="0"/>
              </a:p>
              <a:p>
                <a:r>
                  <a:rPr lang="en-IN" dirty="0"/>
                  <a:t>The auto-covariance function (ACVF) of a stationary time series {</a:t>
                </a:r>
                <a:r>
                  <a:rPr lang="en-IN" dirty="0" err="1"/>
                  <a:t>Y</a:t>
                </a:r>
                <a:r>
                  <a:rPr lang="en-IN" baseline="-25000" dirty="0" err="1"/>
                  <a:t>t</a:t>
                </a:r>
                <a:r>
                  <a:rPr lang="en-IN" dirty="0"/>
                  <a:t>}at lag u is denoted by </a:t>
                </a:r>
                <a:r>
                  <a:rPr lang="en-IN" dirty="0">
                    <a:sym typeface="Symbol" panose="05050102010706020507" pitchFamily="18" charset="2"/>
                  </a:rPr>
                  <a:t></a:t>
                </a:r>
                <a:r>
                  <a:rPr lang="en-IN" dirty="0"/>
                  <a:t>(u) and defined as </a:t>
                </a:r>
              </a:p>
              <a:p>
                <a:pPr marL="114300" indent="0" algn="ctr">
                  <a:buNone/>
                </a:pPr>
                <a:endParaRPr lang="en-IN" dirty="0">
                  <a:sym typeface="Symbol" panose="05050102010706020507" pitchFamily="18" charset="2"/>
                </a:endParaRPr>
              </a:p>
              <a:p>
                <a:pPr marL="114300" indent="0" algn="ctr">
                  <a:buNone/>
                </a:pPr>
                <a:r>
                  <a:rPr lang="en-IN" dirty="0">
                    <a:sym typeface="Symbol" panose="05050102010706020507" pitchFamily="18" charset="2"/>
                  </a:rPr>
                  <a:t></a:t>
                </a:r>
                <a:r>
                  <a:rPr lang="en-IN" dirty="0"/>
                  <a:t> (u) = Cov( </a:t>
                </a:r>
                <a:r>
                  <a:rPr lang="en-IN" dirty="0" err="1"/>
                  <a:t>Y</a:t>
                </a:r>
                <a:r>
                  <a:rPr lang="en-IN" baseline="-25000" dirty="0" err="1"/>
                  <a:t>t</a:t>
                </a:r>
                <a:r>
                  <a:rPr lang="en-IN" baseline="-25000" dirty="0"/>
                  <a:t> + u , </a:t>
                </a:r>
                <a:r>
                  <a:rPr lang="en-IN" dirty="0" err="1"/>
                  <a:t>Y</a:t>
                </a:r>
                <a:r>
                  <a:rPr lang="en-IN" baseline="-25000" dirty="0" err="1"/>
                  <a:t>t</a:t>
                </a:r>
                <a:r>
                  <a:rPr lang="en-IN" dirty="0"/>
                  <a:t>)                                              (2)</a:t>
                </a:r>
              </a:p>
              <a:p>
                <a:endParaRPr lang="en-IN" dirty="0"/>
              </a:p>
            </p:txBody>
          </p:sp>
        </mc:Choice>
        <mc:Fallback xmlns="">
          <p:sp>
            <p:nvSpPr>
              <p:cNvPr id="3" name="Text Placeholder 2">
                <a:extLst>
                  <a:ext uri="{FF2B5EF4-FFF2-40B4-BE49-F238E27FC236}">
                    <a16:creationId xmlns:a16="http://schemas.microsoft.com/office/drawing/2014/main" id="{CD813F86-13B0-7F61-08BB-9B2F787E318B}"/>
                  </a:ext>
                </a:extLst>
              </p:cNvPr>
              <p:cNvSpPr>
                <a:spLocks noGrp="1" noRot="1" noChangeAspect="1" noMove="1" noResize="1" noEditPoints="1" noAdjustHandles="1" noChangeArrowheads="1" noChangeShapeType="1" noTextEdit="1"/>
              </p:cNvSpPr>
              <p:nvPr>
                <p:ph type="body" idx="1"/>
              </p:nvPr>
            </p:nvSpPr>
            <p:spPr>
              <a:blipFill>
                <a:blip r:embed="rId2"/>
                <a:stretch>
                  <a:fillRect r="-501"/>
                </a:stretch>
              </a:blipFill>
            </p:spPr>
            <p:txBody>
              <a:bodyPr/>
              <a:lstStyle/>
              <a:p>
                <a:r>
                  <a:rPr lang="en-IN">
                    <a:noFill/>
                  </a:rPr>
                  <a:t> </a:t>
                </a:r>
              </a:p>
            </p:txBody>
          </p:sp>
        </mc:Fallback>
      </mc:AlternateContent>
    </p:spTree>
    <p:extLst>
      <p:ext uri="{BB962C8B-B14F-4D97-AF65-F5344CB8AC3E}">
        <p14:creationId xmlns:p14="http://schemas.microsoft.com/office/powerpoint/2010/main" val="2352982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F993C-B2AF-08F2-E603-117E0F3C93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DD1A5-C19C-9B1B-72ED-CA88EF3BB2A2}"/>
              </a:ext>
            </a:extLst>
          </p:cNvPr>
          <p:cNvSpPr>
            <a:spLocks noGrp="1"/>
          </p:cNvSpPr>
          <p:nvPr>
            <p:ph type="title"/>
          </p:nvPr>
        </p:nvSpPr>
        <p:spPr/>
        <p:txBody>
          <a:bodyPr/>
          <a:lstStyle/>
          <a:p>
            <a:r>
              <a:rPr lang="en-IN" dirty="0"/>
              <a:t>Stationarity of the series : ACF &amp; PACF</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230E4A9-8D34-2F42-9D03-ADF668D029EC}"/>
                  </a:ext>
                </a:extLst>
              </p:cNvPr>
              <p:cNvSpPr>
                <a:spLocks noGrp="1"/>
              </p:cNvSpPr>
              <p:nvPr>
                <p:ph type="body" idx="1"/>
              </p:nvPr>
            </p:nvSpPr>
            <p:spPr/>
            <p:txBody>
              <a:bodyPr/>
              <a:lstStyle/>
              <a:p>
                <a:r>
                  <a:rPr lang="en-IN" dirty="0"/>
                  <a:t> The auto correlation function (ACF) for the time series {</a:t>
                </a:r>
                <a:r>
                  <a:rPr lang="en-IN" dirty="0" err="1"/>
                  <a:t>Y</a:t>
                </a:r>
                <a:r>
                  <a:rPr lang="en-IN" baseline="-25000" dirty="0" err="1"/>
                  <a:t>t</a:t>
                </a:r>
                <a:r>
                  <a:rPr lang="en-IN" dirty="0"/>
                  <a:t>} can similarly be defined as </a:t>
                </a:r>
              </a:p>
              <a:p>
                <a:pPr marL="114300" indent="0" algn="ctr">
                  <a:buNone/>
                </a:pPr>
                <a:r>
                  <a:rPr lang="en-IN" dirty="0"/>
                  <a:t>ρ(u) = </a:t>
                </a:r>
                <a14:m>
                  <m:oMath xmlns:m="http://schemas.openxmlformats.org/officeDocument/2006/math">
                    <m:f>
                      <m:fPr>
                        <m:ctrlPr>
                          <a:rPr lang="en-IN" i="1">
                            <a:latin typeface="Cambria Math" panose="02040503050406030204" pitchFamily="18" charset="0"/>
                          </a:rPr>
                        </m:ctrlPr>
                      </m:fPr>
                      <m:num>
                        <m:r>
                          <a:rPr lang="en-IN" i="1">
                            <a:latin typeface="Cambria Math" panose="02040503050406030204" pitchFamily="18" charset="0"/>
                          </a:rPr>
                          <m:t>𝛾</m:t>
                        </m:r>
                        <m:r>
                          <a:rPr lang="en-IN" i="1">
                            <a:latin typeface="Cambria Math" panose="02040503050406030204" pitchFamily="18" charset="0"/>
                          </a:rPr>
                          <m:t>(</m:t>
                        </m:r>
                        <m:r>
                          <a:rPr lang="en-IN" i="1">
                            <a:latin typeface="Cambria Math" panose="02040503050406030204" pitchFamily="18" charset="0"/>
                          </a:rPr>
                          <m:t>𝑢</m:t>
                        </m:r>
                        <m:r>
                          <a:rPr lang="en-IN" i="1">
                            <a:latin typeface="Cambria Math" panose="02040503050406030204" pitchFamily="18" charset="0"/>
                          </a:rPr>
                          <m:t>)</m:t>
                        </m:r>
                      </m:num>
                      <m:den>
                        <m:r>
                          <a:rPr lang="en-IN" i="1">
                            <a:latin typeface="Cambria Math" panose="02040503050406030204" pitchFamily="18" charset="0"/>
                          </a:rPr>
                          <m:t>𝛾</m:t>
                        </m:r>
                        <m:r>
                          <a:rPr lang="en-IN" i="1">
                            <a:latin typeface="Cambria Math" panose="02040503050406030204" pitchFamily="18" charset="0"/>
                          </a:rPr>
                          <m:t>(0)</m:t>
                        </m:r>
                      </m:den>
                    </m:f>
                  </m:oMath>
                </a14:m>
                <a:r>
                  <a:rPr lang="en-IN" dirty="0"/>
                  <a:t>  = Corr (</a:t>
                </a:r>
                <a:r>
                  <a:rPr lang="en-IN" dirty="0" err="1"/>
                  <a:t>Y</a:t>
                </a:r>
                <a:r>
                  <a:rPr lang="en-IN" baseline="-25000" dirty="0" err="1"/>
                  <a:t>t+u</a:t>
                </a:r>
                <a:r>
                  <a:rPr lang="en-IN" dirty="0"/>
                  <a:t>, </a:t>
                </a:r>
                <a:r>
                  <a:rPr lang="en-IN" dirty="0" err="1"/>
                  <a:t>Y</a:t>
                </a:r>
                <a:r>
                  <a:rPr lang="en-IN" baseline="-25000" dirty="0" err="1"/>
                  <a:t>t</a:t>
                </a:r>
                <a:r>
                  <a:rPr lang="en-IN" baseline="-25000" dirty="0"/>
                  <a:t> </a:t>
                </a:r>
                <a:r>
                  <a:rPr lang="en-IN" dirty="0"/>
                  <a:t>)                                    (3)</a:t>
                </a:r>
              </a:p>
              <a:p>
                <a:endParaRPr lang="en-IN" dirty="0"/>
              </a:p>
              <a:p>
                <a:r>
                  <a:rPr lang="en-IN" dirty="0"/>
                  <a:t>If </a:t>
                </a:r>
                <a:r>
                  <a:rPr lang="en-IN" dirty="0" err="1"/>
                  <a:t>Y</a:t>
                </a:r>
                <a:r>
                  <a:rPr lang="en-IN" baseline="-25000" dirty="0" err="1"/>
                  <a:t>t</a:t>
                </a:r>
                <a:r>
                  <a:rPr lang="en-IN" baseline="-25000" dirty="0"/>
                  <a:t> </a:t>
                </a:r>
                <a:r>
                  <a:rPr lang="en-IN" dirty="0"/>
                  <a:t>’s are normally distributed then the partial auto correlation function (PACF) between </a:t>
                </a:r>
                <a:r>
                  <a:rPr lang="en-IN" dirty="0" err="1"/>
                  <a:t>Y</a:t>
                </a:r>
                <a:r>
                  <a:rPr lang="en-IN" baseline="-25000" dirty="0" err="1"/>
                  <a:t>t</a:t>
                </a:r>
                <a:r>
                  <a:rPr lang="en-IN" dirty="0"/>
                  <a:t> and </a:t>
                </a:r>
                <a:r>
                  <a:rPr lang="en-IN" dirty="0" err="1"/>
                  <a:t>Y</a:t>
                </a:r>
                <a:r>
                  <a:rPr lang="en-IN" baseline="-25000" dirty="0" err="1"/>
                  <a:t>t</a:t>
                </a:r>
                <a:r>
                  <a:rPr lang="en-IN" baseline="-25000" dirty="0"/>
                  <a:t> – u </a:t>
                </a:r>
                <a:r>
                  <a:rPr lang="en-IN" dirty="0"/>
                  <a:t>can be expressed as </a:t>
                </a:r>
              </a:p>
              <a:p>
                <a:pPr marL="114300" indent="0">
                  <a:buNone/>
                </a:pPr>
                <a:endParaRPr lang="en-IN" dirty="0">
                  <a:sym typeface="Symbol" panose="05050102010706020507" pitchFamily="18" charset="2"/>
                </a:endParaRPr>
              </a:p>
              <a:p>
                <a:pPr marL="114300" indent="0" algn="ctr">
                  <a:buNone/>
                </a:pPr>
                <a:r>
                  <a:rPr lang="en-IN" dirty="0">
                    <a:sym typeface="Symbol" panose="05050102010706020507" pitchFamily="18" charset="2"/>
                  </a:rPr>
                  <a:t>         </a:t>
                </a:r>
                <a:r>
                  <a:rPr lang="en-IN" dirty="0"/>
                  <a:t>(u) =Corr (</a:t>
                </a:r>
                <a:r>
                  <a:rPr lang="en-IN" dirty="0" err="1"/>
                  <a:t>Y</a:t>
                </a:r>
                <a:r>
                  <a:rPr lang="en-IN" baseline="-25000" dirty="0" err="1"/>
                  <a:t>t</a:t>
                </a:r>
                <a:r>
                  <a:rPr lang="en-IN" baseline="-25000" dirty="0"/>
                  <a:t> </a:t>
                </a:r>
                <a:r>
                  <a:rPr lang="en-IN" dirty="0"/>
                  <a:t>, Y</a:t>
                </a:r>
                <a:r>
                  <a:rPr lang="en-IN" baseline="-25000" dirty="0"/>
                  <a:t>t-u </a:t>
                </a:r>
                <a:r>
                  <a:rPr lang="en-IN" dirty="0"/>
                  <a:t>| Y</a:t>
                </a:r>
                <a:r>
                  <a:rPr lang="en-IN" baseline="-25000" dirty="0"/>
                  <a:t>t-u+1 </a:t>
                </a:r>
                <a:r>
                  <a:rPr lang="en-IN" dirty="0"/>
                  <a:t>,.......,Y</a:t>
                </a:r>
                <a:r>
                  <a:rPr lang="en-IN" baseline="-25000" dirty="0"/>
                  <a:t>t-1 </a:t>
                </a:r>
                <a:r>
                  <a:rPr lang="en-IN" dirty="0"/>
                  <a:t>)               (4) </a:t>
                </a:r>
              </a:p>
              <a:p>
                <a:endParaRPr lang="en-IN" dirty="0"/>
              </a:p>
            </p:txBody>
          </p:sp>
        </mc:Choice>
        <mc:Fallback xmlns="">
          <p:sp>
            <p:nvSpPr>
              <p:cNvPr id="3" name="Text Placeholder 2">
                <a:extLst>
                  <a:ext uri="{FF2B5EF4-FFF2-40B4-BE49-F238E27FC236}">
                    <a16:creationId xmlns:a16="http://schemas.microsoft.com/office/drawing/2014/main" id="{C230E4A9-8D34-2F42-9D03-ADF668D029EC}"/>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577300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D4800-80DC-B3A2-4A9E-1A9784D143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9BEE80-FB28-7691-9A91-8E0CD2A2592E}"/>
              </a:ext>
            </a:extLst>
          </p:cNvPr>
          <p:cNvSpPr>
            <a:spLocks noGrp="1"/>
          </p:cNvSpPr>
          <p:nvPr>
            <p:ph type="title"/>
          </p:nvPr>
        </p:nvSpPr>
        <p:spPr/>
        <p:txBody>
          <a:bodyPr/>
          <a:lstStyle/>
          <a:p>
            <a:r>
              <a:rPr lang="en-IN" dirty="0"/>
              <a:t>Stationarity of the series : Statistical Tests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E4282AE-1434-4FF6-EC99-F819A5A6DE0C}"/>
                  </a:ext>
                </a:extLst>
              </p:cNvPr>
              <p:cNvSpPr>
                <a:spLocks noGrp="1"/>
              </p:cNvSpPr>
              <p:nvPr>
                <p:ph type="body" idx="1"/>
              </p:nvPr>
            </p:nvSpPr>
            <p:spPr/>
            <p:txBody>
              <a:bodyPr/>
              <a:lstStyle/>
              <a:p>
                <a:pPr marL="139700" indent="0">
                  <a:buNone/>
                </a:pPr>
                <a:r>
                  <a:rPr lang="en-IN" sz="1600" b="1" dirty="0">
                    <a:solidFill>
                      <a:schemeClr val="bg2"/>
                    </a:solidFill>
                  </a:rPr>
                  <a:t>Augmented Dickey Fuller (ADF) test</a:t>
                </a:r>
              </a:p>
              <a:p>
                <a:pPr marL="139700" indent="0">
                  <a:buNone/>
                </a:pPr>
                <a:endParaRPr lang="en-IN" dirty="0"/>
              </a:p>
              <a:p>
                <a:pPr marL="139700" indent="0" algn="ctr">
                  <a:buNone/>
                </a:pPr>
                <a14:m>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𝐻</m:t>
                        </m:r>
                      </m:e>
                      <m:sub>
                        <m:r>
                          <a:rPr lang="en-IN" b="0" i="1" smtClean="0">
                            <a:latin typeface="Cambria Math" panose="02040503050406030204" pitchFamily="18" charset="0"/>
                          </a:rPr>
                          <m:t>0</m:t>
                        </m:r>
                      </m:sub>
                    </m:sSub>
                  </m:oMath>
                </a14:m>
                <a:r>
                  <a:rPr lang="en-IN" dirty="0"/>
                  <a:t>: </a:t>
                </a:r>
                <a14:m>
                  <m:oMath xmlns:m="http://schemas.openxmlformats.org/officeDocument/2006/math">
                    <m:r>
                      <a:rPr lang="en-IN" b="0" i="0" smtClean="0">
                        <a:latin typeface="Cambria Math" panose="02040503050406030204" pitchFamily="18" charset="0"/>
                      </a:rPr>
                      <m:t>{</m:t>
                    </m:r>
                    <m:sSub>
                      <m:sSubPr>
                        <m:ctrlPr>
                          <a:rPr lang="en-IN" i="1" smtClean="0">
                            <a:latin typeface="Cambria Math" panose="02040503050406030204" pitchFamily="18" charset="0"/>
                          </a:rPr>
                        </m:ctrlPr>
                      </m:sSubPr>
                      <m:e>
                        <m:r>
                          <a:rPr lang="en-IN" b="0" i="1" smtClean="0">
                            <a:latin typeface="Cambria Math" panose="02040503050406030204" pitchFamily="18" charset="0"/>
                          </a:rPr>
                          <m:t>𝑌</m:t>
                        </m:r>
                      </m:e>
                      <m:sub>
                        <m:r>
                          <a:rPr lang="en-IN" b="0" i="1" smtClean="0">
                            <a:latin typeface="Cambria Math" panose="02040503050406030204" pitchFamily="18" charset="0"/>
                          </a:rPr>
                          <m:t>𝑡</m:t>
                        </m:r>
                        <m:r>
                          <a:rPr lang="en-IN" b="0" i="1" smtClean="0">
                            <a:latin typeface="Cambria Math" panose="02040503050406030204" pitchFamily="18" charset="0"/>
                          </a:rPr>
                          <m:t> </m:t>
                        </m:r>
                      </m:sub>
                    </m:sSub>
                  </m:oMath>
                </a14:m>
                <a:r>
                  <a:rPr lang="en-IN" dirty="0"/>
                  <a:t>} is non-stationary</a:t>
                </a:r>
              </a:p>
              <a:p>
                <a:pPr marL="139700" indent="0" algn="ctr">
                  <a:buNone/>
                </a:pPr>
                <a:endParaRPr lang="en-IN" dirty="0"/>
              </a:p>
              <a:p>
                <a:pPr marL="139700" indent="0" algn="ctr">
                  <a:buNone/>
                </a:pPr>
                <a14:m>
                  <m:oMath xmlns:m="http://schemas.openxmlformats.org/officeDocument/2006/math">
                    <m:sSub>
                      <m:sSubPr>
                        <m:ctrlPr>
                          <a:rPr lang="en-IN" i="1" smtClean="0">
                            <a:latin typeface="Cambria Math" panose="02040503050406030204" pitchFamily="18" charset="0"/>
                          </a:rPr>
                        </m:ctrlPr>
                      </m:sSubPr>
                      <m:e>
                        <m:r>
                          <a:rPr lang="en-IN" b="0" i="1">
                            <a:latin typeface="Cambria Math" panose="02040503050406030204" pitchFamily="18" charset="0"/>
                          </a:rPr>
                          <m:t>𝐻</m:t>
                        </m:r>
                      </m:e>
                      <m:sub>
                        <m:r>
                          <a:rPr lang="en-IN" b="0" i="1" smtClean="0">
                            <a:latin typeface="Cambria Math" panose="02040503050406030204" pitchFamily="18" charset="0"/>
                          </a:rPr>
                          <m:t>1</m:t>
                        </m:r>
                      </m:sub>
                    </m:sSub>
                  </m:oMath>
                </a14:m>
                <a:r>
                  <a:rPr lang="en-IN" dirty="0"/>
                  <a:t>: </a:t>
                </a:r>
                <a14:m>
                  <m:oMath xmlns:m="http://schemas.openxmlformats.org/officeDocument/2006/math">
                    <m:r>
                      <a:rPr lang="en-IN" b="0">
                        <a:latin typeface="Cambria Math" panose="02040503050406030204" pitchFamily="18" charset="0"/>
                      </a:rPr>
                      <m:t>{</m:t>
                    </m:r>
                    <m:sSub>
                      <m:sSubPr>
                        <m:ctrlPr>
                          <a:rPr lang="en-IN" i="1">
                            <a:latin typeface="Cambria Math" panose="02040503050406030204" pitchFamily="18" charset="0"/>
                          </a:rPr>
                        </m:ctrlPr>
                      </m:sSubPr>
                      <m:e>
                        <m:r>
                          <a:rPr lang="en-IN" b="0" i="1">
                            <a:latin typeface="Cambria Math" panose="02040503050406030204" pitchFamily="18" charset="0"/>
                          </a:rPr>
                          <m:t>𝑌</m:t>
                        </m:r>
                      </m:e>
                      <m:sub>
                        <m:r>
                          <a:rPr lang="en-IN" b="0" i="1">
                            <a:latin typeface="Cambria Math" panose="02040503050406030204" pitchFamily="18" charset="0"/>
                          </a:rPr>
                          <m:t>𝑡</m:t>
                        </m:r>
                        <m:r>
                          <a:rPr lang="en-IN" b="0" i="1">
                            <a:latin typeface="Cambria Math" panose="02040503050406030204" pitchFamily="18" charset="0"/>
                          </a:rPr>
                          <m:t> </m:t>
                        </m:r>
                      </m:sub>
                    </m:sSub>
                  </m:oMath>
                </a14:m>
                <a:r>
                  <a:rPr lang="en-IN" dirty="0"/>
                  <a:t>} is stationary</a:t>
                </a:r>
              </a:p>
              <a:p>
                <a:pPr marL="139700" indent="0" algn="ctr">
                  <a:buNone/>
                </a:pPr>
                <a:endParaRPr lang="en-IN" dirty="0"/>
              </a:p>
              <a:p>
                <a:pPr marL="139700" indent="0" algn="ctr">
                  <a:buNone/>
                </a:pPr>
                <a:r>
                  <a:rPr lang="en-IN" b="1" dirty="0"/>
                  <a:t>Decision:</a:t>
                </a:r>
              </a:p>
              <a:p>
                <a:pPr marL="139700" indent="0" algn="ctr">
                  <a:buNone/>
                </a:pPr>
                <a:r>
                  <a:rPr lang="en-IN" dirty="0"/>
                  <a:t>If p &lt; 0.05, reject </a:t>
                </a:r>
                <a14:m>
                  <m:oMath xmlns:m="http://schemas.openxmlformats.org/officeDocument/2006/math">
                    <m:sSub>
                      <m:sSubPr>
                        <m:ctrlPr>
                          <a:rPr lang="en-IN" i="1">
                            <a:latin typeface="Cambria Math" panose="02040503050406030204" pitchFamily="18" charset="0"/>
                          </a:rPr>
                        </m:ctrlPr>
                      </m:sSubPr>
                      <m:e>
                        <m:r>
                          <a:rPr lang="en-IN" b="0" i="1">
                            <a:latin typeface="Cambria Math" panose="02040503050406030204" pitchFamily="18" charset="0"/>
                          </a:rPr>
                          <m:t>𝐻</m:t>
                        </m:r>
                      </m:e>
                      <m:sub>
                        <m:r>
                          <a:rPr lang="en-IN" b="0" i="1">
                            <a:latin typeface="Cambria Math" panose="02040503050406030204" pitchFamily="18" charset="0"/>
                          </a:rPr>
                          <m:t>0</m:t>
                        </m:r>
                      </m:sub>
                    </m:sSub>
                  </m:oMath>
                </a14:m>
                <a:endParaRPr lang="en-IN" dirty="0"/>
              </a:p>
              <a:p>
                <a:pPr marL="139700" indent="0" algn="ctr">
                  <a:buNone/>
                </a:pPr>
                <a:r>
                  <a:rPr lang="en-IN" dirty="0"/>
                  <a:t>If p &gt; 0.05, fail to reject </a:t>
                </a:r>
                <a14:m>
                  <m:oMath xmlns:m="http://schemas.openxmlformats.org/officeDocument/2006/math">
                    <m:sSub>
                      <m:sSubPr>
                        <m:ctrlPr>
                          <a:rPr lang="en-IN" i="1">
                            <a:latin typeface="Cambria Math" panose="02040503050406030204" pitchFamily="18" charset="0"/>
                          </a:rPr>
                        </m:ctrlPr>
                      </m:sSubPr>
                      <m:e>
                        <m:r>
                          <a:rPr lang="en-IN" b="0" i="1">
                            <a:latin typeface="Cambria Math" panose="02040503050406030204" pitchFamily="18" charset="0"/>
                          </a:rPr>
                          <m:t>𝐻</m:t>
                        </m:r>
                      </m:e>
                      <m:sub>
                        <m:r>
                          <a:rPr lang="en-IN" b="0" i="1">
                            <a:latin typeface="Cambria Math" panose="02040503050406030204" pitchFamily="18" charset="0"/>
                          </a:rPr>
                          <m:t>0</m:t>
                        </m:r>
                      </m:sub>
                    </m:sSub>
                  </m:oMath>
                </a14:m>
                <a:endParaRPr lang="en-IN" dirty="0"/>
              </a:p>
            </p:txBody>
          </p:sp>
        </mc:Choice>
        <mc:Fallback xmlns="">
          <p:sp>
            <p:nvSpPr>
              <p:cNvPr id="3" name="Text Placeholder 2">
                <a:extLst>
                  <a:ext uri="{FF2B5EF4-FFF2-40B4-BE49-F238E27FC236}">
                    <a16:creationId xmlns:a16="http://schemas.microsoft.com/office/drawing/2014/main" id="{9E4282AE-1434-4FF6-EC99-F819A5A6DE0C}"/>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69B4313A-4DF7-C455-3C65-0A066FAC03CC}"/>
                  </a:ext>
                </a:extLst>
              </p:cNvPr>
              <p:cNvSpPr>
                <a:spLocks noGrp="1"/>
              </p:cNvSpPr>
              <p:nvPr>
                <p:ph type="body" idx="2"/>
              </p:nvPr>
            </p:nvSpPr>
            <p:spPr/>
            <p:txBody>
              <a:bodyPr/>
              <a:lstStyle/>
              <a:p>
                <a:pPr marL="139700" indent="0">
                  <a:buNone/>
                </a:pPr>
                <a:r>
                  <a:rPr lang="en-IN" sz="1200" b="1" dirty="0">
                    <a:solidFill>
                      <a:schemeClr val="bg2"/>
                    </a:solidFill>
                  </a:rPr>
                  <a:t>Kwiatkowski–Phillips–Schmidt–Shin (KPSS) test</a:t>
                </a:r>
              </a:p>
              <a:p>
                <a:pPr marL="139700" indent="0">
                  <a:buNone/>
                </a:pPr>
                <a:endParaRPr lang="en-IN" dirty="0"/>
              </a:p>
              <a:p>
                <a:pPr marL="139700" indent="0" algn="ctr">
                  <a:buNone/>
                </a:pP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𝐻</m:t>
                        </m:r>
                      </m:e>
                      <m:sub>
                        <m:r>
                          <a:rPr lang="en-IN" i="1">
                            <a:latin typeface="Cambria Math" panose="02040503050406030204" pitchFamily="18" charset="0"/>
                          </a:rPr>
                          <m:t>0</m:t>
                        </m:r>
                      </m:sub>
                    </m:sSub>
                  </m:oMath>
                </a14:m>
                <a:r>
                  <a:rPr lang="en-IN" dirty="0"/>
                  <a:t>: </a:t>
                </a:r>
                <a14:m>
                  <m:oMath xmlns:m="http://schemas.openxmlformats.org/officeDocument/2006/math">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𝑌</m:t>
                        </m:r>
                      </m:e>
                      <m:sub>
                        <m:r>
                          <a:rPr lang="en-IN" i="1">
                            <a:latin typeface="Cambria Math" panose="02040503050406030204" pitchFamily="18" charset="0"/>
                          </a:rPr>
                          <m:t>𝑡</m:t>
                        </m:r>
                        <m:r>
                          <a:rPr lang="en-IN" i="1">
                            <a:latin typeface="Cambria Math" panose="02040503050406030204" pitchFamily="18" charset="0"/>
                          </a:rPr>
                          <m:t> </m:t>
                        </m:r>
                      </m:sub>
                    </m:sSub>
                  </m:oMath>
                </a14:m>
                <a:r>
                  <a:rPr lang="en-IN" dirty="0"/>
                  <a:t>} is stationary</a:t>
                </a:r>
              </a:p>
              <a:p>
                <a:pPr marL="139700" indent="0" algn="ctr">
                  <a:buNone/>
                </a:pPr>
                <a:endParaRPr lang="en-IN" dirty="0"/>
              </a:p>
              <a:p>
                <a:pPr marL="139700" indent="0" algn="ctr">
                  <a:buNone/>
                </a:pP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𝐻</m:t>
                        </m:r>
                      </m:e>
                      <m:sub>
                        <m:r>
                          <a:rPr lang="en-IN" i="1">
                            <a:latin typeface="Cambria Math" panose="02040503050406030204" pitchFamily="18" charset="0"/>
                          </a:rPr>
                          <m:t>1</m:t>
                        </m:r>
                      </m:sub>
                    </m:sSub>
                  </m:oMath>
                </a14:m>
                <a:r>
                  <a:rPr lang="en-IN" dirty="0"/>
                  <a:t>: </a:t>
                </a:r>
                <a14:m>
                  <m:oMath xmlns:m="http://schemas.openxmlformats.org/officeDocument/2006/math">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𝑌</m:t>
                        </m:r>
                      </m:e>
                      <m:sub>
                        <m:r>
                          <a:rPr lang="en-IN" i="1">
                            <a:latin typeface="Cambria Math" panose="02040503050406030204" pitchFamily="18" charset="0"/>
                          </a:rPr>
                          <m:t>𝑡</m:t>
                        </m:r>
                        <m:r>
                          <a:rPr lang="en-IN" i="1">
                            <a:latin typeface="Cambria Math" panose="02040503050406030204" pitchFamily="18" charset="0"/>
                          </a:rPr>
                          <m:t> </m:t>
                        </m:r>
                      </m:sub>
                    </m:sSub>
                  </m:oMath>
                </a14:m>
                <a:r>
                  <a:rPr lang="en-IN" dirty="0"/>
                  <a:t>} is non - stationary</a:t>
                </a:r>
              </a:p>
              <a:p>
                <a:pPr marL="139700" indent="0" algn="ctr">
                  <a:buNone/>
                </a:pPr>
                <a:endParaRPr lang="en-IN" dirty="0"/>
              </a:p>
              <a:p>
                <a:pPr marL="139700" indent="0" algn="ctr">
                  <a:buNone/>
                </a:pPr>
                <a:r>
                  <a:rPr lang="en-IN" b="1" dirty="0"/>
                  <a:t>Decision:</a:t>
                </a:r>
              </a:p>
              <a:p>
                <a:pPr marL="139700" indent="0" algn="ctr">
                  <a:buNone/>
                </a:pPr>
                <a:r>
                  <a:rPr lang="en-IN" dirty="0"/>
                  <a:t>If p &gt;0.05, reject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𝐻</m:t>
                        </m:r>
                      </m:e>
                      <m:sub>
                        <m:r>
                          <a:rPr lang="en-IN" i="1">
                            <a:latin typeface="Cambria Math" panose="02040503050406030204" pitchFamily="18" charset="0"/>
                          </a:rPr>
                          <m:t>0</m:t>
                        </m:r>
                      </m:sub>
                    </m:sSub>
                  </m:oMath>
                </a14:m>
                <a:endParaRPr lang="en-IN" dirty="0"/>
              </a:p>
              <a:p>
                <a:pPr marL="139700" indent="0" algn="ctr">
                  <a:buNone/>
                </a:pPr>
                <a:r>
                  <a:rPr lang="en-IN" dirty="0"/>
                  <a:t>If p &lt;0.05, fail to reject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𝐻</m:t>
                        </m:r>
                      </m:e>
                      <m:sub>
                        <m:r>
                          <a:rPr lang="en-IN" i="1">
                            <a:latin typeface="Cambria Math" panose="02040503050406030204" pitchFamily="18" charset="0"/>
                          </a:rPr>
                          <m:t>0</m:t>
                        </m:r>
                      </m:sub>
                    </m:sSub>
                  </m:oMath>
                </a14:m>
                <a:endParaRPr lang="en-IN" dirty="0"/>
              </a:p>
              <a:p>
                <a:pPr marL="139700" indent="0">
                  <a:buNone/>
                </a:pPr>
                <a:endParaRPr lang="en-IN" dirty="0"/>
              </a:p>
            </p:txBody>
          </p:sp>
        </mc:Choice>
        <mc:Fallback xmlns="">
          <p:sp>
            <p:nvSpPr>
              <p:cNvPr id="4" name="Text Placeholder 3">
                <a:extLst>
                  <a:ext uri="{FF2B5EF4-FFF2-40B4-BE49-F238E27FC236}">
                    <a16:creationId xmlns:a16="http://schemas.microsoft.com/office/drawing/2014/main" id="{69B4313A-4DF7-C455-3C65-0A066FAC03CC}"/>
                  </a:ext>
                </a:extLst>
              </p:cNvPr>
              <p:cNvSpPr>
                <a:spLocks noGrp="1" noRot="1" noChangeAspect="1" noMove="1" noResize="1" noEditPoints="1" noAdjustHandles="1" noChangeArrowheads="1" noChangeShapeType="1" noTextEdit="1"/>
              </p:cNvSpPr>
              <p:nvPr>
                <p:ph type="body" idx="2"/>
              </p:nvPr>
            </p:nvSpPr>
            <p:spPr>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213286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32B5B-C3C9-BAB7-181C-762893C695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6120FE-FCA7-D694-BBAC-5841A62DAC5D}"/>
              </a:ext>
            </a:extLst>
          </p:cNvPr>
          <p:cNvSpPr>
            <a:spLocks noGrp="1"/>
          </p:cNvSpPr>
          <p:nvPr>
            <p:ph type="title"/>
          </p:nvPr>
        </p:nvSpPr>
        <p:spPr/>
        <p:txBody>
          <a:bodyPr/>
          <a:lstStyle/>
          <a:p>
            <a:r>
              <a:rPr lang="en-IN" dirty="0"/>
              <a:t>Stationarity of the series  </a:t>
            </a:r>
          </a:p>
        </p:txBody>
      </p:sp>
      <p:sp>
        <p:nvSpPr>
          <p:cNvPr id="3" name="Text Placeholder 2">
            <a:extLst>
              <a:ext uri="{FF2B5EF4-FFF2-40B4-BE49-F238E27FC236}">
                <a16:creationId xmlns:a16="http://schemas.microsoft.com/office/drawing/2014/main" id="{FF686773-8137-25C0-2FE3-E8BC163EBB50}"/>
              </a:ext>
            </a:extLst>
          </p:cNvPr>
          <p:cNvSpPr>
            <a:spLocks noGrp="1"/>
          </p:cNvSpPr>
          <p:nvPr>
            <p:ph type="body" idx="1"/>
          </p:nvPr>
        </p:nvSpPr>
        <p:spPr/>
        <p:txBody>
          <a:bodyPr/>
          <a:lstStyle/>
          <a:p>
            <a:r>
              <a:rPr lang="en-IN" dirty="0"/>
              <a:t> Furthermore, we also plotted the ACF and PACF values for each state. </a:t>
            </a:r>
          </a:p>
          <a:p>
            <a:endParaRPr lang="en-IN" dirty="0"/>
          </a:p>
          <a:p>
            <a:endParaRPr lang="en-IN" dirty="0"/>
          </a:p>
          <a:p>
            <a:r>
              <a:rPr lang="en-IN" dirty="0"/>
              <a:t>If the series is non-stationary, the ACF values decays slowly over lags and PACF values cuts off after very few lags.</a:t>
            </a:r>
          </a:p>
          <a:p>
            <a:pPr marL="114300" indent="0">
              <a:buNone/>
            </a:pPr>
            <a:endParaRPr lang="en-IN" dirty="0"/>
          </a:p>
          <a:p>
            <a:endParaRPr lang="en-IN" dirty="0"/>
          </a:p>
          <a:p>
            <a:r>
              <a:rPr lang="en-IN" dirty="0"/>
              <a:t>For the states having non-stationary data, we had applied differencing to make them stationary. </a:t>
            </a:r>
          </a:p>
          <a:p>
            <a:endParaRPr lang="en-IN" dirty="0"/>
          </a:p>
          <a:p>
            <a:endParaRPr lang="en-IN" dirty="0"/>
          </a:p>
        </p:txBody>
      </p:sp>
    </p:spTree>
    <p:extLst>
      <p:ext uri="{BB962C8B-B14F-4D97-AF65-F5344CB8AC3E}">
        <p14:creationId xmlns:p14="http://schemas.microsoft.com/office/powerpoint/2010/main" val="7790622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CB53A-13BA-0A1C-C18A-8843AEF5BF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853FF2-9CD5-D13C-4240-4454B06E9C93}"/>
              </a:ext>
            </a:extLst>
          </p:cNvPr>
          <p:cNvSpPr>
            <a:spLocks noGrp="1"/>
          </p:cNvSpPr>
          <p:nvPr>
            <p:ph type="title"/>
          </p:nvPr>
        </p:nvSpPr>
        <p:spPr/>
        <p:txBody>
          <a:bodyPr/>
          <a:lstStyle/>
          <a:p>
            <a:r>
              <a:rPr lang="en-IN" dirty="0"/>
              <a:t>Stationarity of the series : Differencing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48A5A3A-CA3C-57A1-AC01-6EBA537C7D23}"/>
                  </a:ext>
                </a:extLst>
              </p:cNvPr>
              <p:cNvSpPr>
                <a:spLocks noGrp="1"/>
              </p:cNvSpPr>
              <p:nvPr>
                <p:ph type="body" idx="1"/>
              </p:nvPr>
            </p:nvSpPr>
            <p:spPr/>
            <p:txBody>
              <a:bodyPr/>
              <a:lstStyle/>
              <a:p>
                <a:r>
                  <a:rPr lang="en-IN" dirty="0"/>
                  <a:t> After applying differencing of first order on the series {</a:t>
                </a:r>
                <a:r>
                  <a:rPr lang="en-IN" dirty="0" err="1"/>
                  <a:t>Y</a:t>
                </a:r>
                <a:r>
                  <a:rPr lang="en-IN" baseline="-25000" dirty="0" err="1"/>
                  <a:t>t</a:t>
                </a:r>
                <a:r>
                  <a:rPr lang="en-IN" dirty="0"/>
                  <a:t>: t</a:t>
                </a:r>
                <a14:m>
                  <m:oMath xmlns:m="http://schemas.openxmlformats.org/officeDocument/2006/math">
                    <m:r>
                      <a:rPr lang="en-IN" i="1">
                        <a:latin typeface="Cambria Math" panose="02040503050406030204" pitchFamily="18" charset="0"/>
                      </a:rPr>
                      <m:t> ∈ </m:t>
                    </m:r>
                  </m:oMath>
                </a14:m>
                <a:r>
                  <a:rPr lang="en-IN" dirty="0"/>
                  <a:t>T} we get a new series {</a:t>
                </a:r>
                <a:r>
                  <a:rPr lang="en-IN" dirty="0" err="1"/>
                  <a:t>Y</a:t>
                </a:r>
                <a:r>
                  <a:rPr lang="en-IN" baseline="-25000" dirty="0" err="1"/>
                  <a:t>t</a:t>
                </a:r>
                <a:r>
                  <a:rPr lang="en-IN" baseline="-25000" dirty="0"/>
                  <a:t> </a:t>
                </a:r>
                <a:r>
                  <a:rPr lang="en-IN" dirty="0">
                    <a:sym typeface="Symbol" panose="05050102010706020507" pitchFamily="18" charset="2"/>
                  </a:rPr>
                  <a:t></a:t>
                </a:r>
                <a:r>
                  <a:rPr lang="en-IN" dirty="0"/>
                  <a:t>: t</a:t>
                </a:r>
                <a14:m>
                  <m:oMath xmlns:m="http://schemas.openxmlformats.org/officeDocument/2006/math">
                    <m:r>
                      <a:rPr lang="en-IN" i="1">
                        <a:latin typeface="Cambria Math" panose="02040503050406030204" pitchFamily="18" charset="0"/>
                      </a:rPr>
                      <m:t> ∈ </m:t>
                    </m:r>
                  </m:oMath>
                </a14:m>
                <a:r>
                  <a:rPr lang="en-IN" dirty="0"/>
                  <a:t>T} where </a:t>
                </a:r>
                <a:r>
                  <a:rPr lang="en-IN" dirty="0" err="1"/>
                  <a:t>Y</a:t>
                </a:r>
                <a:r>
                  <a:rPr lang="en-IN" baseline="-25000" dirty="0" err="1"/>
                  <a:t>t</a:t>
                </a:r>
                <a:r>
                  <a:rPr lang="en-IN" baseline="-25000" dirty="0"/>
                  <a:t> </a:t>
                </a:r>
                <a:r>
                  <a:rPr lang="en-IN" dirty="0">
                    <a:sym typeface="Symbol" panose="05050102010706020507" pitchFamily="18" charset="2"/>
                  </a:rPr>
                  <a:t></a:t>
                </a:r>
                <a:r>
                  <a:rPr lang="en-IN" dirty="0"/>
                  <a:t> = (</a:t>
                </a:r>
                <a:r>
                  <a:rPr lang="en-IN" dirty="0" err="1"/>
                  <a:t>Y</a:t>
                </a:r>
                <a:r>
                  <a:rPr lang="en-IN" baseline="-25000" dirty="0" err="1"/>
                  <a:t>t</a:t>
                </a:r>
                <a:r>
                  <a:rPr lang="en-IN" dirty="0"/>
                  <a:t> - Y</a:t>
                </a:r>
                <a:r>
                  <a:rPr lang="en-IN" baseline="-25000" dirty="0"/>
                  <a:t>t-1</a:t>
                </a:r>
                <a:r>
                  <a:rPr lang="en-IN" dirty="0"/>
                  <a:t>), which is also a time series.</a:t>
                </a:r>
              </a:p>
              <a:p>
                <a:endParaRPr lang="en-IN" dirty="0"/>
              </a:p>
              <a:p>
                <a:endParaRPr lang="en-IN" dirty="0"/>
              </a:p>
              <a:p>
                <a:r>
                  <a:rPr lang="en-IN" dirty="0"/>
                  <a:t>We then again applied the tests for stationarity in the new series and plotted the ACF and PACF values.</a:t>
                </a:r>
              </a:p>
              <a:p>
                <a:pPr marL="114300" indent="0">
                  <a:buNone/>
                </a:pPr>
                <a:endParaRPr lang="en-IN" dirty="0"/>
              </a:p>
              <a:p>
                <a:endParaRPr lang="en-IN" dirty="0"/>
              </a:p>
              <a:p>
                <a:r>
                  <a:rPr lang="en-IN" dirty="0"/>
                  <a:t>If the series still didn’t become stationary, we repeated the process till it became one.</a:t>
                </a:r>
              </a:p>
              <a:p>
                <a:endParaRPr lang="en-IN" dirty="0"/>
              </a:p>
            </p:txBody>
          </p:sp>
        </mc:Choice>
        <mc:Fallback xmlns="">
          <p:sp>
            <p:nvSpPr>
              <p:cNvPr id="3" name="Text Placeholder 2">
                <a:extLst>
                  <a:ext uri="{FF2B5EF4-FFF2-40B4-BE49-F238E27FC236}">
                    <a16:creationId xmlns:a16="http://schemas.microsoft.com/office/drawing/2014/main" id="{548A5A3A-CA3C-57A1-AC01-6EBA537C7D23}"/>
                  </a:ext>
                </a:extLst>
              </p:cNvPr>
              <p:cNvSpPr>
                <a:spLocks noGrp="1" noRot="1" noChangeAspect="1" noMove="1" noResize="1" noEditPoints="1" noAdjustHandles="1" noChangeArrowheads="1" noChangeShapeType="1" noTextEdit="1"/>
              </p:cNvSpPr>
              <p:nvPr>
                <p:ph type="body" idx="1"/>
              </p:nvPr>
            </p:nvSpPr>
            <p:spPr>
              <a:blipFill>
                <a:blip r:embed="rId2"/>
                <a:stretch>
                  <a:fillRect r="-1073"/>
                </a:stretch>
              </a:blipFill>
            </p:spPr>
            <p:txBody>
              <a:bodyPr/>
              <a:lstStyle/>
              <a:p>
                <a:r>
                  <a:rPr lang="en-IN">
                    <a:noFill/>
                  </a:rPr>
                  <a:t> </a:t>
                </a:r>
              </a:p>
            </p:txBody>
          </p:sp>
        </mc:Fallback>
      </mc:AlternateContent>
    </p:spTree>
    <p:extLst>
      <p:ext uri="{BB962C8B-B14F-4D97-AF65-F5344CB8AC3E}">
        <p14:creationId xmlns:p14="http://schemas.microsoft.com/office/powerpoint/2010/main" val="3666431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ABC41-5F5A-A8A5-25C2-46BB6DAF7A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947E35-61E2-6CAC-023D-1B183311953B}"/>
              </a:ext>
            </a:extLst>
          </p:cNvPr>
          <p:cNvSpPr>
            <a:spLocks noGrp="1"/>
          </p:cNvSpPr>
          <p:nvPr>
            <p:ph type="title"/>
          </p:nvPr>
        </p:nvSpPr>
        <p:spPr/>
        <p:txBody>
          <a:bodyPr/>
          <a:lstStyle/>
          <a:p>
            <a:r>
              <a:rPr lang="en-IN" dirty="0"/>
              <a:t>ARIMAX forecasting</a:t>
            </a:r>
          </a:p>
        </p:txBody>
      </p:sp>
      <p:sp>
        <p:nvSpPr>
          <p:cNvPr id="3" name="Text Placeholder 2">
            <a:extLst>
              <a:ext uri="{FF2B5EF4-FFF2-40B4-BE49-F238E27FC236}">
                <a16:creationId xmlns:a16="http://schemas.microsoft.com/office/drawing/2014/main" id="{FF239EA3-4B1F-671C-3B2D-76D661173968}"/>
              </a:ext>
            </a:extLst>
          </p:cNvPr>
          <p:cNvSpPr>
            <a:spLocks noGrp="1"/>
          </p:cNvSpPr>
          <p:nvPr>
            <p:ph type="body" idx="1"/>
          </p:nvPr>
        </p:nvSpPr>
        <p:spPr>
          <a:xfrm>
            <a:off x="311700" y="1171600"/>
            <a:ext cx="8520600" cy="3727502"/>
          </a:xfrm>
        </p:spPr>
        <p:txBody>
          <a:bodyPr/>
          <a:lstStyle/>
          <a:p>
            <a:r>
              <a:rPr lang="en-IN" dirty="0"/>
              <a:t> The ARIMAX model is an extension of ARIMA (Auto Regressive Integrated Moving Averages) models that incorporates one or more exogenous variables (X) that are thought to have an impact on dependent variables (Y). </a:t>
            </a:r>
          </a:p>
          <a:p>
            <a:endParaRPr lang="en-IN" dirty="0"/>
          </a:p>
          <a:p>
            <a:r>
              <a:rPr lang="en-IN" dirty="0"/>
              <a:t>Exogeneous variable are the variables that are determined not by the economic model but by external factors. </a:t>
            </a:r>
          </a:p>
          <a:p>
            <a:pPr marL="114300" indent="0">
              <a:buNone/>
            </a:pPr>
            <a:endParaRPr lang="en-IN" dirty="0"/>
          </a:p>
          <a:p>
            <a:r>
              <a:rPr lang="en-IN" dirty="0"/>
              <a:t>In our model. The variables </a:t>
            </a:r>
            <a:r>
              <a:rPr lang="en-IN" i="1" dirty="0"/>
              <a:t>viz. </a:t>
            </a:r>
            <a:r>
              <a:rPr lang="en-IN" dirty="0"/>
              <a:t>maximum temperature of state, minimum temperature of state, amount of rainfall in the state, FRL, live capacity of FRL, observed water level and the amount of water available acted as exogenous variables. </a:t>
            </a:r>
          </a:p>
        </p:txBody>
      </p:sp>
    </p:spTree>
    <p:extLst>
      <p:ext uri="{BB962C8B-B14F-4D97-AF65-F5344CB8AC3E}">
        <p14:creationId xmlns:p14="http://schemas.microsoft.com/office/powerpoint/2010/main" val="9031539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6DB20-0BB0-2DA8-4202-7C38AD7D55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52F416-47EE-2814-677A-0899F10E9F6D}"/>
              </a:ext>
            </a:extLst>
          </p:cNvPr>
          <p:cNvSpPr>
            <a:spLocks noGrp="1"/>
          </p:cNvSpPr>
          <p:nvPr>
            <p:ph type="title"/>
          </p:nvPr>
        </p:nvSpPr>
        <p:spPr/>
        <p:txBody>
          <a:bodyPr/>
          <a:lstStyle/>
          <a:p>
            <a:r>
              <a:rPr lang="en-IN" dirty="0"/>
              <a:t>ARIMAX forecasting</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B59B621-6789-2400-163E-110A9C225BC9}"/>
                  </a:ext>
                </a:extLst>
              </p:cNvPr>
              <p:cNvSpPr>
                <a:spLocks noGrp="1"/>
              </p:cNvSpPr>
              <p:nvPr>
                <p:ph type="body" idx="1"/>
              </p:nvPr>
            </p:nvSpPr>
            <p:spPr>
              <a:xfrm>
                <a:off x="311700" y="1171600"/>
                <a:ext cx="8520600" cy="3727502"/>
              </a:xfrm>
            </p:spPr>
            <p:txBody>
              <a:bodyPr/>
              <a:lstStyle/>
              <a:p>
                <a:r>
                  <a:rPr lang="en-IN" dirty="0"/>
                  <a:t> Mathematically an ARIMAX model can be expressed as </a:t>
                </a:r>
              </a:p>
              <a:p>
                <a:pPr marL="114300" indent="0" algn="ctr">
                  <a:buNone/>
                </a:pP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𝑌</m:t>
                        </m:r>
                      </m:e>
                      <m:sub>
                        <m:r>
                          <a:rPr lang="en-IN" i="1">
                            <a:latin typeface="Cambria Math" panose="02040503050406030204" pitchFamily="18" charset="0"/>
                          </a:rPr>
                          <m:t>𝑡</m:t>
                        </m:r>
                        <m:r>
                          <a:rPr lang="en-IN" i="1">
                            <a:latin typeface="Cambria Math" panose="02040503050406030204" pitchFamily="18" charset="0"/>
                          </a:rPr>
                          <m:t> </m:t>
                        </m:r>
                      </m:sub>
                    </m:sSub>
                    <m:r>
                      <a:rPr lang="en-IN" i="1">
                        <a:latin typeface="Cambria Math" panose="02040503050406030204" pitchFamily="18" charset="0"/>
                      </a:rPr>
                      <m:t>=</m:t>
                    </m:r>
                    <m:r>
                      <a:rPr lang="en-IN" i="1">
                        <a:latin typeface="Cambria Math" panose="02040503050406030204" pitchFamily="18" charset="0"/>
                      </a:rPr>
                      <m:t>𝑐</m:t>
                    </m:r>
                    <m:r>
                      <a:rPr lang="en-IN" i="1">
                        <a:latin typeface="Cambria Math" panose="02040503050406030204" pitchFamily="18" charset="0"/>
                      </a:rPr>
                      <m:t>+ </m:t>
                    </m:r>
                    <m:nary>
                      <m:naryPr>
                        <m:chr m:val="∑"/>
                        <m:limLoc m:val="undOvr"/>
                        <m:ctrlPr>
                          <a:rPr lang="en-IN" i="1">
                            <a:latin typeface="Cambria Math" panose="02040503050406030204" pitchFamily="18" charset="0"/>
                          </a:rPr>
                        </m:ctrlPr>
                      </m:naryPr>
                      <m:sub>
                        <m:r>
                          <a:rPr lang="en-IN" i="1">
                            <a:latin typeface="Cambria Math" panose="02040503050406030204" pitchFamily="18" charset="0"/>
                          </a:rPr>
                          <m:t>𝑖</m:t>
                        </m:r>
                        <m:r>
                          <a:rPr lang="en-IN" i="1">
                            <a:latin typeface="Cambria Math" panose="02040503050406030204" pitchFamily="18" charset="0"/>
                          </a:rPr>
                          <m:t>=1</m:t>
                        </m:r>
                      </m:sub>
                      <m:sup>
                        <m:r>
                          <a:rPr lang="en-IN" i="1">
                            <a:latin typeface="Cambria Math" panose="02040503050406030204" pitchFamily="18" charset="0"/>
                          </a:rPr>
                          <m:t>𝑝</m:t>
                        </m:r>
                      </m:sup>
                      <m:e>
                        <m:sSub>
                          <m:sSubPr>
                            <m:ctrlPr>
                              <a:rPr lang="en-IN" i="1">
                                <a:latin typeface="Cambria Math" panose="02040503050406030204" pitchFamily="18" charset="0"/>
                              </a:rPr>
                            </m:ctrlPr>
                          </m:sSubPr>
                          <m:e>
                            <m:r>
                              <a:rPr lang="en-IN" i="1">
                                <a:latin typeface="Cambria Math" panose="02040503050406030204" pitchFamily="18" charset="0"/>
                              </a:rPr>
                              <m:t>𝜙</m:t>
                            </m:r>
                          </m:e>
                          <m:sub>
                            <m:r>
                              <a:rPr lang="en-IN" i="1">
                                <a:latin typeface="Cambria Math" panose="02040503050406030204" pitchFamily="18" charset="0"/>
                              </a:rPr>
                              <m:t>𝑖</m:t>
                            </m:r>
                          </m:sub>
                        </m:sSub>
                      </m:e>
                    </m:nary>
                    <m:sSub>
                      <m:sSubPr>
                        <m:ctrlPr>
                          <a:rPr lang="en-IN" i="1">
                            <a:latin typeface="Cambria Math" panose="02040503050406030204" pitchFamily="18" charset="0"/>
                          </a:rPr>
                        </m:ctrlPr>
                      </m:sSubPr>
                      <m:e>
                        <m:r>
                          <a:rPr lang="en-IN" i="1">
                            <a:latin typeface="Cambria Math" panose="02040503050406030204" pitchFamily="18" charset="0"/>
                          </a:rPr>
                          <m:t>𝑌</m:t>
                        </m:r>
                      </m:e>
                      <m:sub>
                        <m:r>
                          <a:rPr lang="en-IN" i="1">
                            <a:latin typeface="Cambria Math" panose="02040503050406030204" pitchFamily="18" charset="0"/>
                          </a:rPr>
                          <m:t>𝑡</m:t>
                        </m:r>
                        <m:r>
                          <a:rPr lang="en-IN" i="1">
                            <a:latin typeface="Cambria Math" panose="02040503050406030204" pitchFamily="18" charset="0"/>
                          </a:rPr>
                          <m:t>−</m:t>
                        </m:r>
                        <m:r>
                          <a:rPr lang="en-IN" i="1">
                            <a:latin typeface="Cambria Math" panose="02040503050406030204" pitchFamily="18" charset="0"/>
                          </a:rPr>
                          <m:t>𝑖</m:t>
                        </m:r>
                      </m:sub>
                    </m:sSub>
                    <m:r>
                      <a:rPr lang="en-IN" i="1">
                        <a:latin typeface="Cambria Math" panose="02040503050406030204" pitchFamily="18" charset="0"/>
                      </a:rPr>
                      <m:t>+ </m:t>
                    </m:r>
                    <m:nary>
                      <m:naryPr>
                        <m:chr m:val="∑"/>
                        <m:limLoc m:val="undOvr"/>
                        <m:ctrlPr>
                          <a:rPr lang="en-IN" i="1">
                            <a:latin typeface="Cambria Math" panose="02040503050406030204" pitchFamily="18" charset="0"/>
                          </a:rPr>
                        </m:ctrlPr>
                      </m:naryPr>
                      <m:sub>
                        <m:r>
                          <a:rPr lang="en-IN" i="1">
                            <a:latin typeface="Cambria Math" panose="02040503050406030204" pitchFamily="18" charset="0"/>
                          </a:rPr>
                          <m:t>𝑗</m:t>
                        </m:r>
                        <m:r>
                          <a:rPr lang="en-IN" i="1">
                            <a:latin typeface="Cambria Math" panose="02040503050406030204" pitchFamily="18" charset="0"/>
                          </a:rPr>
                          <m:t>=1</m:t>
                        </m:r>
                      </m:sub>
                      <m:sup>
                        <m:r>
                          <a:rPr lang="en-IN" i="1">
                            <a:latin typeface="Cambria Math" panose="02040503050406030204" pitchFamily="18" charset="0"/>
                          </a:rPr>
                          <m:t>𝑞</m:t>
                        </m:r>
                      </m:sup>
                      <m:e>
                        <m:sSub>
                          <m:sSubPr>
                            <m:ctrlPr>
                              <a:rPr lang="en-IN" i="1">
                                <a:latin typeface="Cambria Math" panose="02040503050406030204" pitchFamily="18" charset="0"/>
                              </a:rPr>
                            </m:ctrlPr>
                          </m:sSubPr>
                          <m:e>
                            <m:r>
                              <a:rPr lang="en-IN" i="1">
                                <a:latin typeface="Cambria Math" panose="02040503050406030204" pitchFamily="18" charset="0"/>
                              </a:rPr>
                              <m:t>𝜃</m:t>
                            </m:r>
                          </m:e>
                          <m:sub>
                            <m:r>
                              <a:rPr lang="en-IN" i="1">
                                <a:latin typeface="Cambria Math" panose="02040503050406030204" pitchFamily="18" charset="0"/>
                              </a:rPr>
                              <m:t>𝑗</m:t>
                            </m:r>
                          </m:sub>
                        </m:sSub>
                      </m:e>
                    </m:nary>
                    <m:sSub>
                      <m:sSubPr>
                        <m:ctrlPr>
                          <a:rPr lang="en-IN" i="1">
                            <a:latin typeface="Cambria Math" panose="02040503050406030204" pitchFamily="18" charset="0"/>
                          </a:rPr>
                        </m:ctrlPr>
                      </m:sSubPr>
                      <m:e>
                        <m:r>
                          <a:rPr lang="en-IN" i="1">
                            <a:latin typeface="Cambria Math" panose="02040503050406030204" pitchFamily="18" charset="0"/>
                          </a:rPr>
                          <m:t>𝜀</m:t>
                        </m:r>
                      </m:e>
                      <m:sub>
                        <m:r>
                          <a:rPr lang="en-IN" i="1">
                            <a:latin typeface="Cambria Math" panose="02040503050406030204" pitchFamily="18" charset="0"/>
                          </a:rPr>
                          <m:t>𝑡</m:t>
                        </m:r>
                        <m:r>
                          <a:rPr lang="en-IN" i="1">
                            <a:latin typeface="Cambria Math" panose="02040503050406030204" pitchFamily="18" charset="0"/>
                          </a:rPr>
                          <m:t>−</m:t>
                        </m:r>
                        <m:r>
                          <a:rPr lang="en-IN" i="1">
                            <a:latin typeface="Cambria Math" panose="02040503050406030204" pitchFamily="18" charset="0"/>
                          </a:rPr>
                          <m:t>𝑗</m:t>
                        </m:r>
                      </m:sub>
                    </m:sSub>
                    <m:r>
                      <a:rPr lang="en-IN" i="1">
                        <a:latin typeface="Cambria Math" panose="02040503050406030204" pitchFamily="18" charset="0"/>
                      </a:rPr>
                      <m:t>+ </m:t>
                    </m:r>
                    <m:nary>
                      <m:naryPr>
                        <m:chr m:val="∑"/>
                        <m:limLoc m:val="undOvr"/>
                        <m:ctrlPr>
                          <a:rPr lang="en-IN" i="1">
                            <a:latin typeface="Cambria Math" panose="02040503050406030204" pitchFamily="18" charset="0"/>
                          </a:rPr>
                        </m:ctrlPr>
                      </m:naryPr>
                      <m:sub>
                        <m:r>
                          <a:rPr lang="en-IN" i="1">
                            <a:latin typeface="Cambria Math" panose="02040503050406030204" pitchFamily="18" charset="0"/>
                          </a:rPr>
                          <m:t>𝑘</m:t>
                        </m:r>
                        <m:r>
                          <a:rPr lang="en-IN" i="1">
                            <a:latin typeface="Cambria Math" panose="02040503050406030204" pitchFamily="18" charset="0"/>
                          </a:rPr>
                          <m:t>=1</m:t>
                        </m:r>
                      </m:sub>
                      <m:sup>
                        <m:r>
                          <a:rPr lang="en-IN" i="1">
                            <a:latin typeface="Cambria Math" panose="02040503050406030204" pitchFamily="18" charset="0"/>
                          </a:rPr>
                          <m:t>𝑟</m:t>
                        </m:r>
                      </m:sup>
                      <m:e>
                        <m:sSub>
                          <m:sSubPr>
                            <m:ctrlPr>
                              <a:rPr lang="en-IN" i="1">
                                <a:latin typeface="Cambria Math" panose="02040503050406030204" pitchFamily="18" charset="0"/>
                              </a:rPr>
                            </m:ctrlPr>
                          </m:sSubPr>
                          <m:e>
                            <m:r>
                              <a:rPr lang="en-IN" i="1">
                                <a:latin typeface="Cambria Math" panose="02040503050406030204" pitchFamily="18" charset="0"/>
                              </a:rPr>
                              <m:t>𝛽</m:t>
                            </m:r>
                          </m:e>
                          <m:sub>
                            <m:r>
                              <a:rPr lang="en-IN" i="1">
                                <a:latin typeface="Cambria Math" panose="02040503050406030204" pitchFamily="18" charset="0"/>
                              </a:rPr>
                              <m:t>𝑘</m:t>
                            </m:r>
                          </m:sub>
                        </m:sSub>
                      </m:e>
                    </m:nary>
                    <m:sSub>
                      <m:sSubPr>
                        <m:ctrlPr>
                          <a:rPr lang="en-IN" i="1">
                            <a:latin typeface="Cambria Math" panose="02040503050406030204" pitchFamily="18" charset="0"/>
                          </a:rPr>
                        </m:ctrlPr>
                      </m:sSubPr>
                      <m:e>
                        <m:r>
                          <a:rPr lang="en-IN" i="1">
                            <a:latin typeface="Cambria Math" panose="02040503050406030204" pitchFamily="18" charset="0"/>
                          </a:rPr>
                          <m:t>𝑋</m:t>
                        </m:r>
                      </m:e>
                      <m:sub>
                        <m:r>
                          <a:rPr lang="en-IN" i="1">
                            <a:latin typeface="Cambria Math" panose="02040503050406030204" pitchFamily="18" charset="0"/>
                          </a:rPr>
                          <m:t>𝑡</m:t>
                        </m:r>
                        <m:r>
                          <a:rPr lang="en-IN" i="1">
                            <a:latin typeface="Cambria Math" panose="02040503050406030204" pitchFamily="18" charset="0"/>
                          </a:rPr>
                          <m:t>−</m:t>
                        </m:r>
                        <m:r>
                          <a:rPr lang="en-IN" i="1">
                            <a:latin typeface="Cambria Math" panose="02040503050406030204" pitchFamily="18" charset="0"/>
                          </a:rPr>
                          <m:t>𝑘</m:t>
                        </m:r>
                      </m:sub>
                    </m:sSub>
                    <m:r>
                      <a:rPr lang="en-IN" i="1">
                        <a:latin typeface="Cambria Math" panose="02040503050406030204" pitchFamily="18" charset="0"/>
                      </a:rPr>
                      <m:t>+ </m:t>
                    </m:r>
                    <m:sSub>
                      <m:sSubPr>
                        <m:ctrlPr>
                          <a:rPr lang="en-IN" i="1">
                            <a:latin typeface="Cambria Math" panose="02040503050406030204" pitchFamily="18" charset="0"/>
                          </a:rPr>
                        </m:ctrlPr>
                      </m:sSubPr>
                      <m:e>
                        <m:r>
                          <a:rPr lang="en-IN" i="1">
                            <a:latin typeface="Cambria Math" panose="02040503050406030204" pitchFamily="18" charset="0"/>
                          </a:rPr>
                          <m:t>𝜀</m:t>
                        </m:r>
                      </m:e>
                      <m:sub>
                        <m:r>
                          <a:rPr lang="en-IN" i="1">
                            <a:latin typeface="Cambria Math" panose="02040503050406030204" pitchFamily="18" charset="0"/>
                          </a:rPr>
                          <m:t>𝑡</m:t>
                        </m:r>
                      </m:sub>
                    </m:sSub>
                  </m:oMath>
                </a14:m>
                <a:r>
                  <a:rPr lang="en-IN" dirty="0"/>
                  <a:t>                   (5)</a:t>
                </a:r>
              </a:p>
              <a:p>
                <a:pPr marL="114300" indent="0" algn="ctr">
                  <a:buNone/>
                </a:pPr>
                <a:endParaRPr lang="en-IN" dirty="0"/>
              </a:p>
              <a:p>
                <a:r>
                  <a:rPr lang="en-IN" dirty="0"/>
                  <a:t>Where c is a constant term,</a:t>
                </a:r>
              </a:p>
              <a:p>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𝑌</m:t>
                        </m:r>
                      </m:e>
                      <m:sub>
                        <m:r>
                          <a:rPr lang="en-IN" i="1">
                            <a:latin typeface="Cambria Math" panose="02040503050406030204" pitchFamily="18" charset="0"/>
                          </a:rPr>
                          <m:t>𝑡</m:t>
                        </m:r>
                        <m:r>
                          <a:rPr lang="en-IN" i="1">
                            <a:latin typeface="Cambria Math" panose="02040503050406030204" pitchFamily="18" charset="0"/>
                          </a:rPr>
                          <m:t> </m:t>
                        </m:r>
                      </m:sub>
                    </m:sSub>
                    <m:r>
                      <a:rPr lang="en-IN" i="1">
                        <a:latin typeface="Cambria Math" panose="02040503050406030204" pitchFamily="18" charset="0"/>
                      </a:rPr>
                      <m:t> </m:t>
                    </m:r>
                  </m:oMath>
                </a14:m>
                <a:r>
                  <a:rPr lang="en-IN" dirty="0"/>
                  <a:t>is the value of the dependent variable at time t,</a:t>
                </a:r>
              </a:p>
              <a:p>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𝜙</m:t>
                        </m:r>
                      </m:e>
                      <m:sub>
                        <m:r>
                          <a:rPr lang="en-IN" i="1">
                            <a:latin typeface="Cambria Math" panose="02040503050406030204" pitchFamily="18" charset="0"/>
                          </a:rPr>
                          <m:t>1</m:t>
                        </m:r>
                      </m:sub>
                    </m:sSub>
                    <m:r>
                      <a:rPr lang="en-IN" i="1">
                        <a:latin typeface="Cambria Math" panose="02040503050406030204" pitchFamily="18" charset="0"/>
                      </a:rPr>
                      <m:t>, </m:t>
                    </m:r>
                    <m:sSub>
                      <m:sSubPr>
                        <m:ctrlPr>
                          <a:rPr lang="en-IN" i="1">
                            <a:latin typeface="Cambria Math" panose="02040503050406030204" pitchFamily="18" charset="0"/>
                          </a:rPr>
                        </m:ctrlPr>
                      </m:sSubPr>
                      <m:e>
                        <m:r>
                          <a:rPr lang="en-IN" i="1">
                            <a:latin typeface="Cambria Math" panose="02040503050406030204" pitchFamily="18" charset="0"/>
                          </a:rPr>
                          <m:t>𝜙</m:t>
                        </m:r>
                      </m:e>
                      <m:sub>
                        <m:r>
                          <a:rPr lang="en-IN" i="1">
                            <a:latin typeface="Cambria Math" panose="02040503050406030204" pitchFamily="18" charset="0"/>
                          </a:rPr>
                          <m:t>2</m:t>
                        </m:r>
                      </m:sub>
                    </m:sSub>
                    <m:r>
                      <a:rPr lang="en-IN" i="1">
                        <a:latin typeface="Cambria Math" panose="02040503050406030204" pitchFamily="18" charset="0"/>
                      </a:rPr>
                      <m:t>,…., </m:t>
                    </m:r>
                    <m:sSub>
                      <m:sSubPr>
                        <m:ctrlPr>
                          <a:rPr lang="en-IN" i="1">
                            <a:latin typeface="Cambria Math" panose="02040503050406030204" pitchFamily="18" charset="0"/>
                          </a:rPr>
                        </m:ctrlPr>
                      </m:sSubPr>
                      <m:e>
                        <m:r>
                          <a:rPr lang="en-IN" i="1">
                            <a:latin typeface="Cambria Math" panose="02040503050406030204" pitchFamily="18" charset="0"/>
                          </a:rPr>
                          <m:t>𝜙</m:t>
                        </m:r>
                      </m:e>
                      <m:sub>
                        <m:r>
                          <a:rPr lang="en-IN" i="1">
                            <a:latin typeface="Cambria Math" panose="02040503050406030204" pitchFamily="18" charset="0"/>
                          </a:rPr>
                          <m:t>𝑝</m:t>
                        </m:r>
                      </m:sub>
                    </m:sSub>
                    <m:r>
                      <a:rPr lang="en-IN" i="1">
                        <a:latin typeface="Cambria Math" panose="02040503050406030204" pitchFamily="18" charset="0"/>
                      </a:rPr>
                      <m:t> </m:t>
                    </m:r>
                  </m:oMath>
                </a14:m>
                <a:r>
                  <a:rPr lang="en-IN" dirty="0"/>
                  <a:t>are autoregressive coefficients,</a:t>
                </a:r>
              </a:p>
              <a:p>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𝜃</m:t>
                        </m:r>
                      </m:e>
                      <m:sub>
                        <m:r>
                          <a:rPr lang="en-IN" i="1">
                            <a:latin typeface="Cambria Math" panose="02040503050406030204" pitchFamily="18" charset="0"/>
                          </a:rPr>
                          <m:t>1</m:t>
                        </m:r>
                      </m:sub>
                    </m:sSub>
                    <m:r>
                      <a:rPr lang="en-IN" i="1">
                        <a:latin typeface="Cambria Math" panose="02040503050406030204" pitchFamily="18" charset="0"/>
                      </a:rPr>
                      <m:t>, </m:t>
                    </m:r>
                    <m:sSub>
                      <m:sSubPr>
                        <m:ctrlPr>
                          <a:rPr lang="en-IN" i="1">
                            <a:latin typeface="Cambria Math" panose="02040503050406030204" pitchFamily="18" charset="0"/>
                          </a:rPr>
                        </m:ctrlPr>
                      </m:sSubPr>
                      <m:e>
                        <m:r>
                          <a:rPr lang="en-IN" i="1">
                            <a:latin typeface="Cambria Math" panose="02040503050406030204" pitchFamily="18" charset="0"/>
                          </a:rPr>
                          <m:t>𝜃</m:t>
                        </m:r>
                      </m:e>
                      <m:sub>
                        <m:r>
                          <a:rPr lang="en-IN" i="1">
                            <a:latin typeface="Cambria Math" panose="02040503050406030204" pitchFamily="18" charset="0"/>
                          </a:rPr>
                          <m:t>2</m:t>
                        </m:r>
                      </m:sub>
                    </m:sSub>
                    <m:r>
                      <a:rPr lang="en-IN" i="1">
                        <a:latin typeface="Cambria Math" panose="02040503050406030204" pitchFamily="18" charset="0"/>
                      </a:rPr>
                      <m:t>,…. </m:t>
                    </m:r>
                    <m:sSub>
                      <m:sSubPr>
                        <m:ctrlPr>
                          <a:rPr lang="en-IN" i="1">
                            <a:latin typeface="Cambria Math" panose="02040503050406030204" pitchFamily="18" charset="0"/>
                          </a:rPr>
                        </m:ctrlPr>
                      </m:sSubPr>
                      <m:e>
                        <m:r>
                          <a:rPr lang="en-IN" i="1">
                            <a:latin typeface="Cambria Math" panose="02040503050406030204" pitchFamily="18" charset="0"/>
                          </a:rPr>
                          <m:t>𝜃</m:t>
                        </m:r>
                      </m:e>
                      <m:sub>
                        <m:r>
                          <a:rPr lang="en-IN" i="1">
                            <a:latin typeface="Cambria Math" panose="02040503050406030204" pitchFamily="18" charset="0"/>
                          </a:rPr>
                          <m:t>𝑞</m:t>
                        </m:r>
                      </m:sub>
                    </m:sSub>
                  </m:oMath>
                </a14:m>
                <a:r>
                  <a:rPr lang="en-IN" dirty="0"/>
                  <a:t> are moving average coefficients,</a:t>
                </a:r>
              </a:p>
              <a:p>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𝛽</m:t>
                        </m:r>
                      </m:e>
                      <m:sub>
                        <m:r>
                          <a:rPr lang="en-IN" i="1">
                            <a:latin typeface="Cambria Math" panose="02040503050406030204" pitchFamily="18" charset="0"/>
                          </a:rPr>
                          <m:t>1</m:t>
                        </m:r>
                      </m:sub>
                    </m:sSub>
                    <m:r>
                      <a:rPr lang="en-IN" i="1">
                        <a:latin typeface="Cambria Math" panose="02040503050406030204" pitchFamily="18" charset="0"/>
                      </a:rPr>
                      <m:t>, </m:t>
                    </m:r>
                    <m:sSub>
                      <m:sSubPr>
                        <m:ctrlPr>
                          <a:rPr lang="en-IN" i="1">
                            <a:latin typeface="Cambria Math" panose="02040503050406030204" pitchFamily="18" charset="0"/>
                          </a:rPr>
                        </m:ctrlPr>
                      </m:sSubPr>
                      <m:e>
                        <m:r>
                          <a:rPr lang="en-IN" i="1">
                            <a:latin typeface="Cambria Math" panose="02040503050406030204" pitchFamily="18" charset="0"/>
                          </a:rPr>
                          <m:t>𝛽</m:t>
                        </m:r>
                      </m:e>
                      <m:sub>
                        <m:r>
                          <a:rPr lang="en-IN" i="1">
                            <a:latin typeface="Cambria Math" panose="02040503050406030204" pitchFamily="18" charset="0"/>
                          </a:rPr>
                          <m:t>2</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𝛽</m:t>
                        </m:r>
                      </m:e>
                      <m:sub>
                        <m:r>
                          <a:rPr lang="en-IN" i="1">
                            <a:latin typeface="Cambria Math" panose="02040503050406030204" pitchFamily="18" charset="0"/>
                          </a:rPr>
                          <m:t>𝑟</m:t>
                        </m:r>
                      </m:sub>
                    </m:sSub>
                  </m:oMath>
                </a14:m>
                <a:r>
                  <a:rPr lang="en-IN" dirty="0"/>
                  <a:t> are coefficients of the exogeneous variables,</a:t>
                </a:r>
              </a:p>
              <a:p>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𝑋</m:t>
                        </m:r>
                      </m:e>
                      <m:sub>
                        <m:r>
                          <a:rPr lang="en-IN" i="1">
                            <a:latin typeface="Cambria Math" panose="02040503050406030204" pitchFamily="18" charset="0"/>
                          </a:rPr>
                          <m:t>𝑡</m:t>
                        </m:r>
                        <m:r>
                          <a:rPr lang="en-IN" i="1">
                            <a:latin typeface="Cambria Math" panose="02040503050406030204" pitchFamily="18" charset="0"/>
                          </a:rPr>
                          <m:t>−1</m:t>
                        </m:r>
                      </m:sub>
                    </m:sSub>
                    <m:sSub>
                      <m:sSubPr>
                        <m:ctrlPr>
                          <a:rPr lang="en-IN" i="1">
                            <a:latin typeface="Cambria Math" panose="02040503050406030204" pitchFamily="18" charset="0"/>
                          </a:rPr>
                        </m:ctrlPr>
                      </m:sSubPr>
                      <m:e>
                        <m:r>
                          <a:rPr lang="en-IN" b="0" i="1" smtClean="0">
                            <a:latin typeface="Cambria Math" panose="02040503050406030204" pitchFamily="18" charset="0"/>
                          </a:rPr>
                          <m:t>,</m:t>
                        </m:r>
                        <m:r>
                          <a:rPr lang="en-IN" i="1">
                            <a:latin typeface="Cambria Math" panose="02040503050406030204" pitchFamily="18" charset="0"/>
                          </a:rPr>
                          <m:t>𝑋</m:t>
                        </m:r>
                      </m:e>
                      <m:sub>
                        <m:r>
                          <a:rPr lang="en-IN" i="1">
                            <a:latin typeface="Cambria Math" panose="02040503050406030204" pitchFamily="18" charset="0"/>
                          </a:rPr>
                          <m:t>𝑡</m:t>
                        </m:r>
                        <m:r>
                          <a:rPr lang="en-IN" i="1">
                            <a:latin typeface="Cambria Math" panose="02040503050406030204" pitchFamily="18" charset="0"/>
                          </a:rPr>
                          <m:t>−2</m:t>
                        </m:r>
                      </m:sub>
                    </m:sSub>
                    <m:r>
                      <a:rPr lang="en-IN" b="0" i="1" smtClean="0">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𝑋</m:t>
                        </m:r>
                      </m:e>
                      <m:sub>
                        <m:r>
                          <a:rPr lang="en-IN" i="1">
                            <a:latin typeface="Cambria Math" panose="02040503050406030204" pitchFamily="18" charset="0"/>
                          </a:rPr>
                          <m:t>𝑡</m:t>
                        </m:r>
                        <m:r>
                          <a:rPr lang="en-IN" i="1">
                            <a:latin typeface="Cambria Math" panose="02040503050406030204" pitchFamily="18" charset="0"/>
                          </a:rPr>
                          <m:t>−</m:t>
                        </m:r>
                        <m:r>
                          <a:rPr lang="en-IN" b="0" i="1" smtClean="0">
                            <a:latin typeface="Cambria Math" panose="02040503050406030204" pitchFamily="18" charset="0"/>
                          </a:rPr>
                          <m:t>𝑟</m:t>
                        </m:r>
                      </m:sub>
                    </m:sSub>
                    <m:r>
                      <a:rPr lang="en-IN" b="0" i="1" smtClean="0">
                        <a:latin typeface="Cambria Math" panose="02040503050406030204" pitchFamily="18" charset="0"/>
                      </a:rPr>
                      <m:t> </m:t>
                    </m:r>
                    <m:r>
                      <a:rPr lang="en-IN" i="1" smtClean="0">
                        <a:latin typeface="Cambria Math" panose="02040503050406030204" pitchFamily="18" charset="0"/>
                      </a:rPr>
                      <m:t> </m:t>
                    </m:r>
                  </m:oMath>
                </a14:m>
                <a:r>
                  <a:rPr lang="en-IN" dirty="0"/>
                  <a:t>are the exogeneous variables, and </a:t>
                </a:r>
              </a:p>
              <a:p>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𝜀</m:t>
                        </m:r>
                      </m:e>
                      <m:sub>
                        <m:r>
                          <a:rPr lang="en-IN" i="1">
                            <a:latin typeface="Cambria Math" panose="02040503050406030204" pitchFamily="18" charset="0"/>
                          </a:rPr>
                          <m:t>𝑡</m:t>
                        </m:r>
                        <m:r>
                          <a:rPr lang="en-IN" i="1">
                            <a:latin typeface="Cambria Math" panose="02040503050406030204" pitchFamily="18" charset="0"/>
                          </a:rPr>
                          <m:t> </m:t>
                        </m:r>
                      </m:sub>
                    </m:sSub>
                  </m:oMath>
                </a14:m>
                <a:r>
                  <a:rPr lang="en-IN" dirty="0"/>
                  <a:t>is the error term at time t </a:t>
                </a:r>
              </a:p>
              <a:p>
                <a:pPr marL="114300" indent="0" algn="ctr">
                  <a:buNone/>
                </a:pPr>
                <a:endParaRPr lang="en-IN" dirty="0"/>
              </a:p>
              <a:p>
                <a:pPr marL="114300" indent="0">
                  <a:buNone/>
                </a:pPr>
                <a:endParaRPr lang="en-IN" dirty="0"/>
              </a:p>
            </p:txBody>
          </p:sp>
        </mc:Choice>
        <mc:Fallback xmlns="">
          <p:sp>
            <p:nvSpPr>
              <p:cNvPr id="3" name="Text Placeholder 2">
                <a:extLst>
                  <a:ext uri="{FF2B5EF4-FFF2-40B4-BE49-F238E27FC236}">
                    <a16:creationId xmlns:a16="http://schemas.microsoft.com/office/drawing/2014/main" id="{CB59B621-6789-2400-163E-110A9C225BC9}"/>
                  </a:ext>
                </a:extLst>
              </p:cNvPr>
              <p:cNvSpPr>
                <a:spLocks noGrp="1" noRot="1" noChangeAspect="1" noMove="1" noResize="1" noEditPoints="1" noAdjustHandles="1" noChangeArrowheads="1" noChangeShapeType="1" noTextEdit="1"/>
              </p:cNvSpPr>
              <p:nvPr>
                <p:ph type="body" idx="1"/>
              </p:nvPr>
            </p:nvSpPr>
            <p:spPr>
              <a:xfrm>
                <a:off x="311700" y="1171600"/>
                <a:ext cx="8520600" cy="3727502"/>
              </a:xfrm>
              <a:blipFill>
                <a:blip r:embed="rId2"/>
                <a:stretch>
                  <a:fillRect t="-327"/>
                </a:stretch>
              </a:blipFill>
            </p:spPr>
            <p:txBody>
              <a:bodyPr/>
              <a:lstStyle/>
              <a:p>
                <a:r>
                  <a:rPr lang="en-IN">
                    <a:noFill/>
                  </a:rPr>
                  <a:t> </a:t>
                </a:r>
              </a:p>
            </p:txBody>
          </p:sp>
        </mc:Fallback>
      </mc:AlternateContent>
    </p:spTree>
    <p:extLst>
      <p:ext uri="{BB962C8B-B14F-4D97-AF65-F5344CB8AC3E}">
        <p14:creationId xmlns:p14="http://schemas.microsoft.com/office/powerpoint/2010/main" val="25370501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ADFE2-45BB-2AC5-3171-61DCF46F04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F025EE-3FCC-A0DD-B51F-F7F81F60ECD8}"/>
              </a:ext>
            </a:extLst>
          </p:cNvPr>
          <p:cNvSpPr>
            <a:spLocks noGrp="1"/>
          </p:cNvSpPr>
          <p:nvPr>
            <p:ph type="title"/>
          </p:nvPr>
        </p:nvSpPr>
        <p:spPr/>
        <p:txBody>
          <a:bodyPr/>
          <a:lstStyle/>
          <a:p>
            <a:r>
              <a:rPr lang="en-IN" dirty="0"/>
              <a:t>ARIMAX forecasting</a:t>
            </a:r>
          </a:p>
        </p:txBody>
      </p:sp>
      <p:sp>
        <p:nvSpPr>
          <p:cNvPr id="3" name="Text Placeholder 2">
            <a:extLst>
              <a:ext uri="{FF2B5EF4-FFF2-40B4-BE49-F238E27FC236}">
                <a16:creationId xmlns:a16="http://schemas.microsoft.com/office/drawing/2014/main" id="{30BAC5DF-AFAE-F5F4-857E-0E8029DDCDFF}"/>
              </a:ext>
            </a:extLst>
          </p:cNvPr>
          <p:cNvSpPr>
            <a:spLocks noGrp="1"/>
          </p:cNvSpPr>
          <p:nvPr>
            <p:ph type="body" idx="1"/>
          </p:nvPr>
        </p:nvSpPr>
        <p:spPr>
          <a:xfrm>
            <a:off x="311700" y="1058225"/>
            <a:ext cx="8520600" cy="3876185"/>
          </a:xfrm>
        </p:spPr>
        <p:txBody>
          <a:bodyPr/>
          <a:lstStyle/>
          <a:p>
            <a:r>
              <a:rPr lang="en-IN" dirty="0"/>
              <a:t> If differencing is applied, the model becomes ARIMAX (</a:t>
            </a:r>
            <a:r>
              <a:rPr lang="en-IN" dirty="0" err="1"/>
              <a:t>p,d,q</a:t>
            </a:r>
            <a:r>
              <a:rPr lang="en-IN" dirty="0"/>
              <a:t>), where d is the order of differencing.</a:t>
            </a:r>
          </a:p>
          <a:p>
            <a:endParaRPr lang="en-IN" dirty="0"/>
          </a:p>
          <a:p>
            <a:r>
              <a:rPr lang="en-IN" dirty="0"/>
              <a:t>Various ARIMAX models, depending on the values of p, d and q have been fitted for each state.</a:t>
            </a:r>
          </a:p>
          <a:p>
            <a:pPr marL="114300" indent="0">
              <a:buNone/>
            </a:pPr>
            <a:endParaRPr lang="en-IN" dirty="0"/>
          </a:p>
          <a:p>
            <a:r>
              <a:rPr lang="en-IN" dirty="0"/>
              <a:t>The model with lowest Akaike information criterion (AIC) value has been chosen as the best model.</a:t>
            </a:r>
          </a:p>
          <a:p>
            <a:endParaRPr lang="en-IN" dirty="0"/>
          </a:p>
          <a:p>
            <a:r>
              <a:rPr lang="en-IN" dirty="0"/>
              <a:t>The performance of the ARIMAX models for every state is evaluated using error metrics such as Mean Absolute Error (MAE), Mean Squared Error (MSE) and Mean Absolute Percentage Error (MAPE).</a:t>
            </a:r>
          </a:p>
          <a:p>
            <a:endParaRPr lang="en-IN" dirty="0"/>
          </a:p>
          <a:p>
            <a:endParaRPr lang="en-IN" dirty="0"/>
          </a:p>
        </p:txBody>
      </p:sp>
    </p:spTree>
    <p:extLst>
      <p:ext uri="{BB962C8B-B14F-4D97-AF65-F5344CB8AC3E}">
        <p14:creationId xmlns:p14="http://schemas.microsoft.com/office/powerpoint/2010/main" val="1911008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DEFBE-30BF-ADF5-43CB-9025234A12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C12014-B329-6BA7-05F1-7C74544DA0D4}"/>
              </a:ext>
            </a:extLst>
          </p:cNvPr>
          <p:cNvSpPr>
            <a:spLocks noGrp="1"/>
          </p:cNvSpPr>
          <p:nvPr>
            <p:ph type="title"/>
          </p:nvPr>
        </p:nvSpPr>
        <p:spPr/>
        <p:txBody>
          <a:bodyPr/>
          <a:lstStyle/>
          <a:p>
            <a:r>
              <a:rPr lang="en-IN" dirty="0"/>
              <a:t>ARIMAX forecasting</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CCC3B0E-8258-9F57-3E50-969A06C78CFA}"/>
                  </a:ext>
                </a:extLst>
              </p:cNvPr>
              <p:cNvSpPr>
                <a:spLocks noGrp="1"/>
              </p:cNvSpPr>
              <p:nvPr>
                <p:ph type="body" idx="1"/>
              </p:nvPr>
            </p:nvSpPr>
            <p:spPr>
              <a:xfrm>
                <a:off x="311700" y="1171600"/>
                <a:ext cx="8520600" cy="3727502"/>
              </a:xfrm>
            </p:spPr>
            <p:txBody>
              <a:bodyPr/>
              <a:lstStyle/>
              <a:p>
                <a:r>
                  <a:rPr lang="en-IN" dirty="0"/>
                  <a:t>MAE calculates the mean of the absolute differences between the observed values and predicted values. It is defined as </a:t>
                </a:r>
              </a:p>
              <a:p>
                <a:pPr marL="114300" indent="0" algn="ctr">
                  <a:buNone/>
                </a:pPr>
                <a:r>
                  <a:rPr lang="en-IN" i="1" dirty="0"/>
                  <a:t>MAE = </a:t>
                </a:r>
                <a14:m>
                  <m:oMath xmlns:m="http://schemas.openxmlformats.org/officeDocument/2006/math">
                    <m:f>
                      <m:fPr>
                        <m:ctrlPr>
                          <a:rPr lang="en-IN" i="1">
                            <a:latin typeface="Cambria Math" panose="02040503050406030204" pitchFamily="18" charset="0"/>
                          </a:rPr>
                        </m:ctrlPr>
                      </m:fPr>
                      <m:num>
                        <m:r>
                          <a:rPr lang="en-IN" i="1">
                            <a:latin typeface="Cambria Math" panose="02040503050406030204" pitchFamily="18" charset="0"/>
                          </a:rPr>
                          <m:t>1</m:t>
                        </m:r>
                      </m:num>
                      <m:den>
                        <m:r>
                          <a:rPr lang="en-IN" i="1">
                            <a:latin typeface="Cambria Math" panose="02040503050406030204" pitchFamily="18" charset="0"/>
                          </a:rPr>
                          <m:t>𝑛</m:t>
                        </m:r>
                      </m:den>
                    </m:f>
                    <m:nary>
                      <m:naryPr>
                        <m:chr m:val="∑"/>
                        <m:limLoc m:val="undOvr"/>
                        <m:ctrlPr>
                          <a:rPr lang="en-IN" i="1">
                            <a:latin typeface="Cambria Math" panose="02040503050406030204" pitchFamily="18" charset="0"/>
                          </a:rPr>
                        </m:ctrlPr>
                      </m:naryPr>
                      <m:sub>
                        <m:r>
                          <a:rPr lang="en-IN" i="1">
                            <a:latin typeface="Cambria Math" panose="02040503050406030204" pitchFamily="18" charset="0"/>
                          </a:rPr>
                          <m:t>𝑖</m:t>
                        </m:r>
                        <m:r>
                          <a:rPr lang="en-IN" i="1">
                            <a:latin typeface="Cambria Math" panose="02040503050406030204" pitchFamily="18" charset="0"/>
                          </a:rPr>
                          <m:t>=1</m:t>
                        </m:r>
                      </m:sub>
                      <m:sup>
                        <m:r>
                          <a:rPr lang="en-IN" i="1">
                            <a:latin typeface="Cambria Math" panose="02040503050406030204" pitchFamily="18" charset="0"/>
                          </a:rPr>
                          <m:t>𝑛</m:t>
                        </m:r>
                      </m:sup>
                      <m:e>
                        <m:d>
                          <m:dPr>
                            <m:begChr m:val="|"/>
                            <m:endChr m:val="|"/>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𝑦</m:t>
                                </m:r>
                              </m:e>
                              <m:sub>
                                <m:r>
                                  <a:rPr lang="en-IN" i="1">
                                    <a:latin typeface="Cambria Math" panose="02040503050406030204" pitchFamily="18" charset="0"/>
                                  </a:rPr>
                                  <m:t>𝑖</m:t>
                                </m:r>
                              </m:sub>
                            </m:sSub>
                            <m:r>
                              <a:rPr lang="en-IN" i="1">
                                <a:latin typeface="Cambria Math" panose="02040503050406030204" pitchFamily="18" charset="0"/>
                              </a:rPr>
                              <m:t>− </m:t>
                            </m:r>
                            <m:acc>
                              <m:accPr>
                                <m:chr m:val="̂"/>
                                <m:ctrlPr>
                                  <a:rPr lang="en-IN" i="1">
                                    <a:latin typeface="Cambria Math" panose="02040503050406030204" pitchFamily="18" charset="0"/>
                                  </a:rPr>
                                </m:ctrlPr>
                              </m:accPr>
                              <m:e>
                                <m:sSub>
                                  <m:sSubPr>
                                    <m:ctrlPr>
                                      <a:rPr lang="en-IN" i="1">
                                        <a:latin typeface="Cambria Math" panose="02040503050406030204" pitchFamily="18" charset="0"/>
                                      </a:rPr>
                                    </m:ctrlPr>
                                  </m:sSubPr>
                                  <m:e>
                                    <m:r>
                                      <a:rPr lang="en-IN" i="1">
                                        <a:latin typeface="Cambria Math" panose="02040503050406030204" pitchFamily="18" charset="0"/>
                                      </a:rPr>
                                      <m:t>𝑦</m:t>
                                    </m:r>
                                  </m:e>
                                  <m:sub>
                                    <m:r>
                                      <a:rPr lang="en-IN" i="1">
                                        <a:latin typeface="Cambria Math" panose="02040503050406030204" pitchFamily="18" charset="0"/>
                                      </a:rPr>
                                      <m:t>𝑖</m:t>
                                    </m:r>
                                  </m:sub>
                                </m:sSub>
                              </m:e>
                            </m:acc>
                          </m:e>
                        </m:d>
                      </m:e>
                    </m:nary>
                  </m:oMath>
                </a14:m>
                <a:r>
                  <a:rPr lang="en-IN" dirty="0"/>
                  <a:t>                                                       (6)</a:t>
                </a:r>
              </a:p>
              <a:p>
                <a:r>
                  <a:rPr lang="en-IN" dirty="0"/>
                  <a:t>MSE calculates the average of the squared value of the deviations between the observed values and the predicted values. </a:t>
                </a:r>
              </a:p>
              <a:p>
                <a:pPr marL="114300" indent="0" algn="ctr">
                  <a:buNone/>
                </a:pPr>
                <a:r>
                  <a:rPr lang="en-IN" i="1" dirty="0"/>
                  <a:t>MSE = </a:t>
                </a:r>
                <a14:m>
                  <m:oMath xmlns:m="http://schemas.openxmlformats.org/officeDocument/2006/math">
                    <m:f>
                      <m:fPr>
                        <m:ctrlPr>
                          <a:rPr lang="en-IN" i="1">
                            <a:latin typeface="Cambria Math" panose="02040503050406030204" pitchFamily="18" charset="0"/>
                          </a:rPr>
                        </m:ctrlPr>
                      </m:fPr>
                      <m:num>
                        <m:r>
                          <a:rPr lang="en-IN" i="1">
                            <a:latin typeface="Cambria Math" panose="02040503050406030204" pitchFamily="18" charset="0"/>
                          </a:rPr>
                          <m:t>1</m:t>
                        </m:r>
                      </m:num>
                      <m:den>
                        <m:r>
                          <a:rPr lang="en-IN" i="1">
                            <a:latin typeface="Cambria Math" panose="02040503050406030204" pitchFamily="18" charset="0"/>
                          </a:rPr>
                          <m:t>𝑛</m:t>
                        </m:r>
                      </m:den>
                    </m:f>
                    <m:nary>
                      <m:naryPr>
                        <m:chr m:val="∑"/>
                        <m:limLoc m:val="undOvr"/>
                        <m:ctrlPr>
                          <a:rPr lang="en-IN" i="1">
                            <a:latin typeface="Cambria Math" panose="02040503050406030204" pitchFamily="18" charset="0"/>
                          </a:rPr>
                        </m:ctrlPr>
                      </m:naryPr>
                      <m:sub>
                        <m:r>
                          <a:rPr lang="en-IN" i="1">
                            <a:latin typeface="Cambria Math" panose="02040503050406030204" pitchFamily="18" charset="0"/>
                          </a:rPr>
                          <m:t>𝑖</m:t>
                        </m:r>
                        <m:r>
                          <a:rPr lang="en-IN" i="1">
                            <a:latin typeface="Cambria Math" panose="02040503050406030204" pitchFamily="18" charset="0"/>
                          </a:rPr>
                          <m:t>=1</m:t>
                        </m:r>
                      </m:sub>
                      <m:sup>
                        <m:r>
                          <a:rPr lang="en-IN" i="1">
                            <a:latin typeface="Cambria Math" panose="02040503050406030204" pitchFamily="18" charset="0"/>
                          </a:rPr>
                          <m:t>𝑛</m:t>
                        </m:r>
                      </m:sup>
                      <m:e>
                        <m:sSup>
                          <m:sSupPr>
                            <m:ctrlPr>
                              <a:rPr lang="en-IN" i="1">
                                <a:latin typeface="Cambria Math" panose="02040503050406030204" pitchFamily="18" charset="0"/>
                              </a:rPr>
                            </m:ctrlPr>
                          </m:sSupPr>
                          <m:e>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𝑦</m:t>
                                    </m:r>
                                  </m:e>
                                  <m:sub>
                                    <m:r>
                                      <a:rPr lang="en-IN" i="1">
                                        <a:latin typeface="Cambria Math" panose="02040503050406030204" pitchFamily="18" charset="0"/>
                                      </a:rPr>
                                      <m:t>𝑖</m:t>
                                    </m:r>
                                  </m:sub>
                                </m:sSub>
                                <m:r>
                                  <a:rPr lang="en-IN" i="1">
                                    <a:latin typeface="Cambria Math" panose="02040503050406030204" pitchFamily="18" charset="0"/>
                                  </a:rPr>
                                  <m:t>− </m:t>
                                </m:r>
                                <m:acc>
                                  <m:accPr>
                                    <m:chr m:val="̂"/>
                                    <m:ctrlPr>
                                      <a:rPr lang="en-IN" i="1">
                                        <a:latin typeface="Cambria Math" panose="02040503050406030204" pitchFamily="18" charset="0"/>
                                      </a:rPr>
                                    </m:ctrlPr>
                                  </m:accPr>
                                  <m:e>
                                    <m:sSub>
                                      <m:sSubPr>
                                        <m:ctrlPr>
                                          <a:rPr lang="en-IN" i="1">
                                            <a:latin typeface="Cambria Math" panose="02040503050406030204" pitchFamily="18" charset="0"/>
                                          </a:rPr>
                                        </m:ctrlPr>
                                      </m:sSubPr>
                                      <m:e>
                                        <m:r>
                                          <a:rPr lang="en-IN" i="1">
                                            <a:latin typeface="Cambria Math" panose="02040503050406030204" pitchFamily="18" charset="0"/>
                                          </a:rPr>
                                          <m:t>𝑦</m:t>
                                        </m:r>
                                      </m:e>
                                      <m:sub>
                                        <m:r>
                                          <a:rPr lang="en-IN" i="1">
                                            <a:latin typeface="Cambria Math" panose="02040503050406030204" pitchFamily="18" charset="0"/>
                                          </a:rPr>
                                          <m:t>𝑖</m:t>
                                        </m:r>
                                      </m:sub>
                                    </m:sSub>
                                  </m:e>
                                </m:acc>
                              </m:e>
                            </m:d>
                          </m:e>
                          <m:sup>
                            <m:r>
                              <a:rPr lang="en-IN" i="1">
                                <a:latin typeface="Cambria Math" panose="02040503050406030204" pitchFamily="18" charset="0"/>
                              </a:rPr>
                              <m:t>2</m:t>
                            </m:r>
                          </m:sup>
                        </m:sSup>
                      </m:e>
                    </m:nary>
                  </m:oMath>
                </a14:m>
                <a:r>
                  <a:rPr lang="en-IN" dirty="0"/>
                  <a:t>                                                       (7)</a:t>
                </a:r>
              </a:p>
              <a:p>
                <a:r>
                  <a:rPr lang="en-IN" dirty="0"/>
                  <a:t>The percentage absolute difference between the expected and actual values is called MAPE and is defined as</a:t>
                </a:r>
              </a:p>
              <a:p>
                <a:pPr marL="114300" indent="0" algn="ctr">
                  <a:buNone/>
                </a:pPr>
                <a:r>
                  <a:rPr lang="en-IN" i="1" dirty="0"/>
                  <a:t>MAPE= </a:t>
                </a:r>
                <a14:m>
                  <m:oMath xmlns:m="http://schemas.openxmlformats.org/officeDocument/2006/math">
                    <m:f>
                      <m:fPr>
                        <m:ctrlPr>
                          <a:rPr lang="en-IN" i="1">
                            <a:latin typeface="Cambria Math" panose="02040503050406030204" pitchFamily="18" charset="0"/>
                          </a:rPr>
                        </m:ctrlPr>
                      </m:fPr>
                      <m:num>
                        <m:r>
                          <a:rPr lang="en-IN" i="1">
                            <a:latin typeface="Cambria Math" panose="02040503050406030204" pitchFamily="18" charset="0"/>
                          </a:rPr>
                          <m:t>1</m:t>
                        </m:r>
                      </m:num>
                      <m:den>
                        <m:r>
                          <a:rPr lang="en-IN" i="1">
                            <a:latin typeface="Cambria Math" panose="02040503050406030204" pitchFamily="18" charset="0"/>
                          </a:rPr>
                          <m:t>𝑛</m:t>
                        </m:r>
                      </m:den>
                    </m:f>
                    <m:nary>
                      <m:naryPr>
                        <m:chr m:val="∑"/>
                        <m:limLoc m:val="undOvr"/>
                        <m:ctrlPr>
                          <a:rPr lang="en-IN" i="1">
                            <a:latin typeface="Cambria Math" panose="02040503050406030204" pitchFamily="18" charset="0"/>
                          </a:rPr>
                        </m:ctrlPr>
                      </m:naryPr>
                      <m:sub>
                        <m:r>
                          <a:rPr lang="en-IN" i="1">
                            <a:latin typeface="Cambria Math" panose="02040503050406030204" pitchFamily="18" charset="0"/>
                          </a:rPr>
                          <m:t>𝑖</m:t>
                        </m:r>
                        <m:r>
                          <a:rPr lang="en-IN" i="1">
                            <a:latin typeface="Cambria Math" panose="02040503050406030204" pitchFamily="18" charset="0"/>
                          </a:rPr>
                          <m:t>=1</m:t>
                        </m:r>
                      </m:sub>
                      <m:sup>
                        <m:r>
                          <a:rPr lang="en-IN" i="1">
                            <a:latin typeface="Cambria Math" panose="02040503050406030204" pitchFamily="18" charset="0"/>
                          </a:rPr>
                          <m:t>𝑛</m:t>
                        </m:r>
                      </m:sup>
                      <m:e>
                        <m:d>
                          <m:dPr>
                            <m:begChr m:val="|"/>
                            <m:endChr m:val="|"/>
                            <m:ctrlPr>
                              <a:rPr lang="en-IN" i="1">
                                <a:latin typeface="Cambria Math" panose="02040503050406030204" pitchFamily="18" charset="0"/>
                              </a:rPr>
                            </m:ctrlPr>
                          </m:dPr>
                          <m:e>
                            <m:f>
                              <m:fPr>
                                <m:ctrlPr>
                                  <a:rPr lang="en-IN" i="1">
                                    <a:latin typeface="Cambria Math" panose="02040503050406030204" pitchFamily="18" charset="0"/>
                                  </a:rPr>
                                </m:ctrlPr>
                              </m:fPr>
                              <m:num>
                                <m:sSub>
                                  <m:sSubPr>
                                    <m:ctrlPr>
                                      <a:rPr lang="en-IN" i="1">
                                        <a:latin typeface="Cambria Math" panose="02040503050406030204" pitchFamily="18" charset="0"/>
                                      </a:rPr>
                                    </m:ctrlPr>
                                  </m:sSubPr>
                                  <m:e>
                                    <m:r>
                                      <a:rPr lang="en-IN" i="1">
                                        <a:latin typeface="Cambria Math" panose="02040503050406030204" pitchFamily="18" charset="0"/>
                                      </a:rPr>
                                      <m:t>𝑦</m:t>
                                    </m:r>
                                  </m:e>
                                  <m:sub>
                                    <m:r>
                                      <a:rPr lang="en-IN" i="1">
                                        <a:latin typeface="Cambria Math" panose="02040503050406030204" pitchFamily="18" charset="0"/>
                                      </a:rPr>
                                      <m:t>𝑖</m:t>
                                    </m:r>
                                  </m:sub>
                                </m:sSub>
                                <m:r>
                                  <a:rPr lang="en-IN" i="1">
                                    <a:latin typeface="Cambria Math" panose="02040503050406030204" pitchFamily="18" charset="0"/>
                                  </a:rPr>
                                  <m:t>− </m:t>
                                </m:r>
                                <m:sSub>
                                  <m:sSubPr>
                                    <m:ctrlPr>
                                      <a:rPr lang="en-IN" i="1">
                                        <a:latin typeface="Cambria Math" panose="02040503050406030204" pitchFamily="18" charset="0"/>
                                      </a:rPr>
                                    </m:ctrlPr>
                                  </m:sSubPr>
                                  <m:e>
                                    <m:acc>
                                      <m:accPr>
                                        <m:chr m:val="̂"/>
                                        <m:ctrlPr>
                                          <a:rPr lang="en-IN" i="1">
                                            <a:latin typeface="Cambria Math" panose="02040503050406030204" pitchFamily="18" charset="0"/>
                                          </a:rPr>
                                        </m:ctrlPr>
                                      </m:accPr>
                                      <m:e>
                                        <m:r>
                                          <a:rPr lang="en-IN" i="1">
                                            <a:latin typeface="Cambria Math" panose="02040503050406030204" pitchFamily="18" charset="0"/>
                                          </a:rPr>
                                          <m:t>𝑦</m:t>
                                        </m:r>
                                      </m:e>
                                    </m:acc>
                                  </m:e>
                                  <m:sub>
                                    <m:r>
                                      <a:rPr lang="en-IN" i="1">
                                        <a:latin typeface="Cambria Math" panose="02040503050406030204" pitchFamily="18" charset="0"/>
                                      </a:rPr>
                                      <m:t>𝑖</m:t>
                                    </m:r>
                                  </m:sub>
                                </m:sSub>
                              </m:num>
                              <m:den>
                                <m:sSub>
                                  <m:sSubPr>
                                    <m:ctrlPr>
                                      <a:rPr lang="en-IN" i="1">
                                        <a:latin typeface="Cambria Math" panose="02040503050406030204" pitchFamily="18" charset="0"/>
                                      </a:rPr>
                                    </m:ctrlPr>
                                  </m:sSubPr>
                                  <m:e>
                                    <m:r>
                                      <a:rPr lang="en-IN" i="1">
                                        <a:latin typeface="Cambria Math" panose="02040503050406030204" pitchFamily="18" charset="0"/>
                                      </a:rPr>
                                      <m:t>𝑦</m:t>
                                    </m:r>
                                  </m:e>
                                  <m:sub>
                                    <m:r>
                                      <a:rPr lang="en-IN" i="1">
                                        <a:latin typeface="Cambria Math" panose="02040503050406030204" pitchFamily="18" charset="0"/>
                                      </a:rPr>
                                      <m:t>𝑖</m:t>
                                    </m:r>
                                  </m:sub>
                                </m:sSub>
                              </m:den>
                            </m:f>
                          </m:e>
                        </m:d>
                      </m:e>
                    </m:nary>
                    <m:r>
                      <a:rPr lang="en-IN" i="1">
                        <a:latin typeface="Cambria Math" panose="02040503050406030204" pitchFamily="18" charset="0"/>
                      </a:rPr>
                      <m:t>∗100</m:t>
                    </m:r>
                  </m:oMath>
                </a14:m>
                <a:r>
                  <a:rPr lang="en-IN" dirty="0"/>
                  <a:t>                                                     (8)</a:t>
                </a:r>
              </a:p>
              <a:p>
                <a:endParaRPr lang="en-IN" dirty="0"/>
              </a:p>
            </p:txBody>
          </p:sp>
        </mc:Choice>
        <mc:Fallback xmlns="">
          <p:sp>
            <p:nvSpPr>
              <p:cNvPr id="3" name="Text Placeholder 2">
                <a:extLst>
                  <a:ext uri="{FF2B5EF4-FFF2-40B4-BE49-F238E27FC236}">
                    <a16:creationId xmlns:a16="http://schemas.microsoft.com/office/drawing/2014/main" id="{1CCC3B0E-8258-9F57-3E50-969A06C78CFA}"/>
                  </a:ext>
                </a:extLst>
              </p:cNvPr>
              <p:cNvSpPr>
                <a:spLocks noGrp="1" noRot="1" noChangeAspect="1" noMove="1" noResize="1" noEditPoints="1" noAdjustHandles="1" noChangeArrowheads="1" noChangeShapeType="1" noTextEdit="1"/>
              </p:cNvSpPr>
              <p:nvPr>
                <p:ph type="body" idx="1"/>
              </p:nvPr>
            </p:nvSpPr>
            <p:spPr>
              <a:xfrm>
                <a:off x="311700" y="1171600"/>
                <a:ext cx="8520600" cy="3727502"/>
              </a:xfrm>
              <a:blipFill>
                <a:blip r:embed="rId2"/>
                <a:stretch>
                  <a:fillRect b="-8497"/>
                </a:stretch>
              </a:blipFill>
            </p:spPr>
            <p:txBody>
              <a:bodyPr/>
              <a:lstStyle/>
              <a:p>
                <a:r>
                  <a:rPr lang="en-IN">
                    <a:noFill/>
                  </a:rPr>
                  <a:t> </a:t>
                </a:r>
              </a:p>
            </p:txBody>
          </p:sp>
        </mc:Fallback>
      </mc:AlternateContent>
    </p:spTree>
    <p:extLst>
      <p:ext uri="{BB962C8B-B14F-4D97-AF65-F5344CB8AC3E}">
        <p14:creationId xmlns:p14="http://schemas.microsoft.com/office/powerpoint/2010/main" val="34929893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47E38278-0C83-5A88-3989-98B6C3282161}"/>
            </a:ext>
          </a:extLst>
        </p:cNvPr>
        <p:cNvGrpSpPr/>
        <p:nvPr/>
      </p:nvGrpSpPr>
      <p:grpSpPr>
        <a:xfrm>
          <a:off x="0" y="0"/>
          <a:ext cx="0" cy="0"/>
          <a:chOff x="0" y="0"/>
          <a:chExt cx="0" cy="0"/>
        </a:xfrm>
      </p:grpSpPr>
      <p:sp>
        <p:nvSpPr>
          <p:cNvPr id="91" name="Google Shape;91;p18">
            <a:extLst>
              <a:ext uri="{FF2B5EF4-FFF2-40B4-BE49-F238E27FC236}">
                <a16:creationId xmlns:a16="http://schemas.microsoft.com/office/drawing/2014/main" id="{861B2924-4322-E7DB-9377-A9E699CE3401}"/>
              </a:ext>
            </a:extLst>
          </p:cNvPr>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Results</a:t>
            </a:r>
            <a:endParaRPr dirty="0"/>
          </a:p>
        </p:txBody>
      </p:sp>
    </p:spTree>
    <p:extLst>
      <p:ext uri="{BB962C8B-B14F-4D97-AF65-F5344CB8AC3E}">
        <p14:creationId xmlns:p14="http://schemas.microsoft.com/office/powerpoint/2010/main" val="29087533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3" name="Title 2">
            <a:extLst>
              <a:ext uri="{FF2B5EF4-FFF2-40B4-BE49-F238E27FC236}">
                <a16:creationId xmlns:a16="http://schemas.microsoft.com/office/drawing/2014/main" id="{C69DAE6B-1D34-603C-D5E1-CD66B3F290E0}"/>
              </a:ext>
            </a:extLst>
          </p:cNvPr>
          <p:cNvSpPr>
            <a:spLocks noGrp="1"/>
          </p:cNvSpPr>
          <p:nvPr>
            <p:ph type="title"/>
          </p:nvPr>
        </p:nvSpPr>
        <p:spPr/>
        <p:txBody>
          <a:bodyPr/>
          <a:lstStyle/>
          <a:p>
            <a:r>
              <a:rPr lang="en-IN" dirty="0"/>
              <a:t>Setup</a:t>
            </a:r>
          </a:p>
        </p:txBody>
      </p:sp>
      <p:sp>
        <p:nvSpPr>
          <p:cNvPr id="4" name="Text Placeholder 3">
            <a:extLst>
              <a:ext uri="{FF2B5EF4-FFF2-40B4-BE49-F238E27FC236}">
                <a16:creationId xmlns:a16="http://schemas.microsoft.com/office/drawing/2014/main" id="{D2CCC663-7264-0BCC-FF13-FC382AB8267F}"/>
              </a:ext>
            </a:extLst>
          </p:cNvPr>
          <p:cNvSpPr>
            <a:spLocks noGrp="1"/>
          </p:cNvSpPr>
          <p:nvPr>
            <p:ph type="body" idx="1"/>
          </p:nvPr>
        </p:nvSpPr>
        <p:spPr/>
        <p:txBody>
          <a:bodyPr/>
          <a:lstStyle/>
          <a:p>
            <a:r>
              <a:rPr lang="en-IN" dirty="0"/>
              <a:t>In the experimental setup, Windows 11 was used as the operating system, with a 12th Gen Intel(R) Core(TM) i3-1215U processor (1.20 GHz).</a:t>
            </a:r>
          </a:p>
          <a:p>
            <a:pPr marL="114300" indent="0">
              <a:buNone/>
            </a:pPr>
            <a:endParaRPr lang="en-IN" dirty="0"/>
          </a:p>
          <a:p>
            <a:endParaRPr lang="en-IN" dirty="0"/>
          </a:p>
          <a:p>
            <a:r>
              <a:rPr lang="en-US" dirty="0"/>
              <a:t>All models were implemented locally in Visual Studio Code using Python 3.12.4 and </a:t>
            </a:r>
            <a:r>
              <a:rPr lang="en-US" dirty="0" err="1"/>
              <a:t>PyTorch</a:t>
            </a:r>
            <a:r>
              <a:rPr lang="en-US" dirty="0"/>
              <a:t> 2.8.0 compiled with CPU.</a:t>
            </a:r>
          </a:p>
          <a:p>
            <a:pPr marL="114300" indent="0">
              <a:buNone/>
            </a:pPr>
            <a:r>
              <a:rPr lang="en-US" dirty="0"/>
              <a:t> </a:t>
            </a:r>
          </a:p>
          <a:p>
            <a:endParaRPr lang="en-US" dirty="0"/>
          </a:p>
          <a:p>
            <a:r>
              <a:rPr lang="en-US" dirty="0"/>
              <a:t>Training was performed on Windows 11 ( Intel 64-bit processor, Family 6 Model 154 Stepping4).</a:t>
            </a:r>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174A3-C148-644A-1129-584626E9AD15}"/>
              </a:ext>
            </a:extLst>
          </p:cNvPr>
          <p:cNvSpPr>
            <a:spLocks noGrp="1"/>
          </p:cNvSpPr>
          <p:nvPr>
            <p:ph type="title"/>
          </p:nvPr>
        </p:nvSpPr>
        <p:spPr/>
        <p:txBody>
          <a:bodyPr/>
          <a:lstStyle/>
          <a:p>
            <a:r>
              <a:rPr lang="en-IN" dirty="0"/>
              <a:t>Year - wise plot of yield </a:t>
            </a:r>
          </a:p>
        </p:txBody>
      </p:sp>
      <p:sp>
        <p:nvSpPr>
          <p:cNvPr id="3" name="Text Placeholder 2">
            <a:extLst>
              <a:ext uri="{FF2B5EF4-FFF2-40B4-BE49-F238E27FC236}">
                <a16:creationId xmlns:a16="http://schemas.microsoft.com/office/drawing/2014/main" id="{DF9B167E-DE94-9638-FEDC-0E6329F56431}"/>
              </a:ext>
            </a:extLst>
          </p:cNvPr>
          <p:cNvSpPr>
            <a:spLocks noGrp="1"/>
          </p:cNvSpPr>
          <p:nvPr>
            <p:ph type="body" idx="1"/>
          </p:nvPr>
        </p:nvSpPr>
        <p:spPr/>
        <p:txBody>
          <a:bodyPr/>
          <a:lstStyle/>
          <a:p>
            <a:pPr marL="114300" indent="0">
              <a:buNone/>
            </a:pPr>
            <a:endParaRPr lang="en-IN" dirty="0"/>
          </a:p>
        </p:txBody>
      </p:sp>
      <p:pic>
        <p:nvPicPr>
          <p:cNvPr id="7" name="Picture 6">
            <a:extLst>
              <a:ext uri="{FF2B5EF4-FFF2-40B4-BE49-F238E27FC236}">
                <a16:creationId xmlns:a16="http://schemas.microsoft.com/office/drawing/2014/main" id="{8D6ABC1A-5656-3954-00F2-89F59D8B8C23}"/>
              </a:ext>
            </a:extLst>
          </p:cNvPr>
          <p:cNvPicPr>
            <a:picLocks noChangeAspect="1"/>
          </p:cNvPicPr>
          <p:nvPr/>
        </p:nvPicPr>
        <p:blipFill>
          <a:blip r:embed="rId2"/>
          <a:stretch>
            <a:fillRect/>
          </a:stretch>
        </p:blipFill>
        <p:spPr>
          <a:xfrm>
            <a:off x="311700" y="1171600"/>
            <a:ext cx="8520600" cy="3397200"/>
          </a:xfrm>
          <a:prstGeom prst="rect">
            <a:avLst/>
          </a:prstGeom>
        </p:spPr>
      </p:pic>
    </p:spTree>
    <p:extLst>
      <p:ext uri="{BB962C8B-B14F-4D97-AF65-F5344CB8AC3E}">
        <p14:creationId xmlns:p14="http://schemas.microsoft.com/office/powerpoint/2010/main" val="7302985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F3C92-0DD7-1311-C66A-497440270E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6BD5F4-515F-BD82-4A1E-4D8E31B82D4B}"/>
              </a:ext>
            </a:extLst>
          </p:cNvPr>
          <p:cNvSpPr>
            <a:spLocks noGrp="1"/>
          </p:cNvSpPr>
          <p:nvPr>
            <p:ph type="title"/>
          </p:nvPr>
        </p:nvSpPr>
        <p:spPr/>
        <p:txBody>
          <a:bodyPr/>
          <a:lstStyle/>
          <a:p>
            <a:r>
              <a:rPr lang="en-IN" dirty="0"/>
              <a:t>Year - wise plot of yield (Contd.) </a:t>
            </a:r>
          </a:p>
        </p:txBody>
      </p:sp>
      <p:sp>
        <p:nvSpPr>
          <p:cNvPr id="3" name="Text Placeholder 2">
            <a:extLst>
              <a:ext uri="{FF2B5EF4-FFF2-40B4-BE49-F238E27FC236}">
                <a16:creationId xmlns:a16="http://schemas.microsoft.com/office/drawing/2014/main" id="{184A56EC-78AB-9388-5429-58D86141F270}"/>
              </a:ext>
            </a:extLst>
          </p:cNvPr>
          <p:cNvSpPr>
            <a:spLocks noGrp="1"/>
          </p:cNvSpPr>
          <p:nvPr>
            <p:ph type="body" idx="1"/>
          </p:nvPr>
        </p:nvSpPr>
        <p:spPr/>
        <p:txBody>
          <a:bodyPr/>
          <a:lstStyle/>
          <a:p>
            <a:pPr marL="114300" indent="0">
              <a:buNone/>
            </a:pPr>
            <a:endParaRPr lang="en-IN" dirty="0"/>
          </a:p>
        </p:txBody>
      </p:sp>
      <p:pic>
        <p:nvPicPr>
          <p:cNvPr id="7" name="Picture 6">
            <a:extLst>
              <a:ext uri="{FF2B5EF4-FFF2-40B4-BE49-F238E27FC236}">
                <a16:creationId xmlns:a16="http://schemas.microsoft.com/office/drawing/2014/main" id="{08DB7057-A1B6-CBEF-6A6A-0C8AF1AFAAC8}"/>
              </a:ext>
            </a:extLst>
          </p:cNvPr>
          <p:cNvPicPr>
            <a:picLocks noChangeAspect="1"/>
          </p:cNvPicPr>
          <p:nvPr/>
        </p:nvPicPr>
        <p:blipFill>
          <a:blip r:embed="rId2"/>
          <a:srcRect/>
          <a:stretch/>
        </p:blipFill>
        <p:spPr>
          <a:xfrm>
            <a:off x="311701" y="1171600"/>
            <a:ext cx="8520600" cy="3397200"/>
          </a:xfrm>
          <a:prstGeom prst="rect">
            <a:avLst/>
          </a:prstGeom>
        </p:spPr>
      </p:pic>
    </p:spTree>
    <p:extLst>
      <p:ext uri="{BB962C8B-B14F-4D97-AF65-F5344CB8AC3E}">
        <p14:creationId xmlns:p14="http://schemas.microsoft.com/office/powerpoint/2010/main" val="31779096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75F82-E798-67F3-0551-3B050D3F17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E444F-31BB-DB31-21D9-FDA361A3884F}"/>
              </a:ext>
            </a:extLst>
          </p:cNvPr>
          <p:cNvSpPr>
            <a:spLocks noGrp="1"/>
          </p:cNvSpPr>
          <p:nvPr>
            <p:ph type="title"/>
          </p:nvPr>
        </p:nvSpPr>
        <p:spPr/>
        <p:txBody>
          <a:bodyPr/>
          <a:lstStyle/>
          <a:p>
            <a:r>
              <a:rPr lang="en-IN" dirty="0"/>
              <a:t>Additive decomposition for yield  </a:t>
            </a:r>
          </a:p>
        </p:txBody>
      </p:sp>
      <p:sp>
        <p:nvSpPr>
          <p:cNvPr id="3" name="Text Placeholder 2">
            <a:extLst>
              <a:ext uri="{FF2B5EF4-FFF2-40B4-BE49-F238E27FC236}">
                <a16:creationId xmlns:a16="http://schemas.microsoft.com/office/drawing/2014/main" id="{E159F11A-26E8-E814-E463-4563666FF666}"/>
              </a:ext>
            </a:extLst>
          </p:cNvPr>
          <p:cNvSpPr>
            <a:spLocks noGrp="1"/>
          </p:cNvSpPr>
          <p:nvPr>
            <p:ph type="body" idx="1"/>
          </p:nvPr>
        </p:nvSpPr>
        <p:spPr/>
        <p:txBody>
          <a:bodyPr/>
          <a:lstStyle/>
          <a:p>
            <a:pPr marL="114300" indent="0">
              <a:buNone/>
            </a:pPr>
            <a:endParaRPr lang="en-IN" dirty="0"/>
          </a:p>
        </p:txBody>
      </p:sp>
      <p:pic>
        <p:nvPicPr>
          <p:cNvPr id="7" name="Picture 6">
            <a:extLst>
              <a:ext uri="{FF2B5EF4-FFF2-40B4-BE49-F238E27FC236}">
                <a16:creationId xmlns:a16="http://schemas.microsoft.com/office/drawing/2014/main" id="{C81B67AB-9689-DA43-58F8-B9E4B1109727}"/>
              </a:ext>
            </a:extLst>
          </p:cNvPr>
          <p:cNvPicPr>
            <a:picLocks noChangeAspect="1"/>
          </p:cNvPicPr>
          <p:nvPr/>
        </p:nvPicPr>
        <p:blipFill>
          <a:blip r:embed="rId2"/>
          <a:srcRect/>
          <a:stretch/>
        </p:blipFill>
        <p:spPr>
          <a:xfrm>
            <a:off x="311700" y="1171600"/>
            <a:ext cx="8520600" cy="3397200"/>
          </a:xfrm>
          <a:prstGeom prst="rect">
            <a:avLst/>
          </a:prstGeom>
        </p:spPr>
      </p:pic>
    </p:spTree>
    <p:extLst>
      <p:ext uri="{BB962C8B-B14F-4D97-AF65-F5344CB8AC3E}">
        <p14:creationId xmlns:p14="http://schemas.microsoft.com/office/powerpoint/2010/main" val="41560455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25908-3EE6-950E-445E-87A114F22A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AEA540-DFB1-5038-9ED9-4436913D5637}"/>
              </a:ext>
            </a:extLst>
          </p:cNvPr>
          <p:cNvSpPr>
            <a:spLocks noGrp="1"/>
          </p:cNvSpPr>
          <p:nvPr>
            <p:ph type="title"/>
          </p:nvPr>
        </p:nvSpPr>
        <p:spPr/>
        <p:txBody>
          <a:bodyPr/>
          <a:lstStyle/>
          <a:p>
            <a:r>
              <a:rPr lang="en-IN" dirty="0"/>
              <a:t>Additive decomposition for yield (Contd.) </a:t>
            </a:r>
          </a:p>
        </p:txBody>
      </p:sp>
      <p:sp>
        <p:nvSpPr>
          <p:cNvPr id="3" name="Text Placeholder 2">
            <a:extLst>
              <a:ext uri="{FF2B5EF4-FFF2-40B4-BE49-F238E27FC236}">
                <a16:creationId xmlns:a16="http://schemas.microsoft.com/office/drawing/2014/main" id="{17C8EE49-AAD5-F02D-CC12-1B8C57C62ADC}"/>
              </a:ext>
            </a:extLst>
          </p:cNvPr>
          <p:cNvSpPr>
            <a:spLocks noGrp="1"/>
          </p:cNvSpPr>
          <p:nvPr>
            <p:ph type="body" idx="1"/>
          </p:nvPr>
        </p:nvSpPr>
        <p:spPr/>
        <p:txBody>
          <a:bodyPr/>
          <a:lstStyle/>
          <a:p>
            <a:pPr marL="114300" indent="0">
              <a:buNone/>
            </a:pPr>
            <a:endParaRPr lang="en-IN" dirty="0"/>
          </a:p>
        </p:txBody>
      </p:sp>
      <p:pic>
        <p:nvPicPr>
          <p:cNvPr id="7" name="Picture 6">
            <a:extLst>
              <a:ext uri="{FF2B5EF4-FFF2-40B4-BE49-F238E27FC236}">
                <a16:creationId xmlns:a16="http://schemas.microsoft.com/office/drawing/2014/main" id="{B67616CD-636A-B86C-E293-5E3518FD3E03}"/>
              </a:ext>
            </a:extLst>
          </p:cNvPr>
          <p:cNvPicPr>
            <a:picLocks noChangeAspect="1"/>
          </p:cNvPicPr>
          <p:nvPr/>
        </p:nvPicPr>
        <p:blipFill>
          <a:blip r:embed="rId2"/>
          <a:srcRect/>
          <a:stretch/>
        </p:blipFill>
        <p:spPr>
          <a:xfrm>
            <a:off x="311700" y="1171600"/>
            <a:ext cx="8520600" cy="3397200"/>
          </a:xfrm>
          <a:prstGeom prst="rect">
            <a:avLst/>
          </a:prstGeom>
        </p:spPr>
      </p:pic>
    </p:spTree>
    <p:extLst>
      <p:ext uri="{BB962C8B-B14F-4D97-AF65-F5344CB8AC3E}">
        <p14:creationId xmlns:p14="http://schemas.microsoft.com/office/powerpoint/2010/main" val="3596178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9DE3F-AB1B-8FEE-C82E-032358C882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F61332-6A09-F270-ED4F-550A33E093B7}"/>
              </a:ext>
            </a:extLst>
          </p:cNvPr>
          <p:cNvSpPr>
            <a:spLocks noGrp="1"/>
          </p:cNvSpPr>
          <p:nvPr>
            <p:ph type="title"/>
          </p:nvPr>
        </p:nvSpPr>
        <p:spPr/>
        <p:txBody>
          <a:bodyPr/>
          <a:lstStyle/>
          <a:p>
            <a:r>
              <a:rPr lang="en-IN" dirty="0"/>
              <a:t>Stationarity: Results of stationarity tests </a:t>
            </a:r>
          </a:p>
        </p:txBody>
      </p:sp>
      <p:sp>
        <p:nvSpPr>
          <p:cNvPr id="3" name="Text Placeholder 2">
            <a:extLst>
              <a:ext uri="{FF2B5EF4-FFF2-40B4-BE49-F238E27FC236}">
                <a16:creationId xmlns:a16="http://schemas.microsoft.com/office/drawing/2014/main" id="{6B69528E-5B81-EBCB-B8E2-75F98D73EA1F}"/>
              </a:ext>
            </a:extLst>
          </p:cNvPr>
          <p:cNvSpPr>
            <a:spLocks noGrp="1"/>
          </p:cNvSpPr>
          <p:nvPr>
            <p:ph type="body" idx="1"/>
          </p:nvPr>
        </p:nvSpPr>
        <p:spPr/>
        <p:txBody>
          <a:bodyPr/>
          <a:lstStyle/>
          <a:p>
            <a:pPr marL="114300" indent="0">
              <a:buNone/>
            </a:pPr>
            <a:endParaRPr lang="en-IN" dirty="0"/>
          </a:p>
        </p:txBody>
      </p:sp>
      <p:pic>
        <p:nvPicPr>
          <p:cNvPr id="7" name="Picture 6">
            <a:extLst>
              <a:ext uri="{FF2B5EF4-FFF2-40B4-BE49-F238E27FC236}">
                <a16:creationId xmlns:a16="http://schemas.microsoft.com/office/drawing/2014/main" id="{C4AC774F-9B1C-53C7-0695-98F07E7DF656}"/>
              </a:ext>
            </a:extLst>
          </p:cNvPr>
          <p:cNvPicPr>
            <a:picLocks noChangeAspect="1"/>
          </p:cNvPicPr>
          <p:nvPr/>
        </p:nvPicPr>
        <p:blipFill>
          <a:blip r:embed="rId2"/>
          <a:srcRect/>
          <a:stretch/>
        </p:blipFill>
        <p:spPr>
          <a:xfrm>
            <a:off x="311700" y="1171600"/>
            <a:ext cx="8520600" cy="3397200"/>
          </a:xfrm>
          <a:prstGeom prst="rect">
            <a:avLst/>
          </a:prstGeom>
        </p:spPr>
      </p:pic>
    </p:spTree>
    <p:extLst>
      <p:ext uri="{BB962C8B-B14F-4D97-AF65-F5344CB8AC3E}">
        <p14:creationId xmlns:p14="http://schemas.microsoft.com/office/powerpoint/2010/main" val="31709248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C7696-5FF3-5AC2-84C4-88389F1448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97D84A-9412-CD5A-B1B3-42F32FB9FA8B}"/>
              </a:ext>
            </a:extLst>
          </p:cNvPr>
          <p:cNvSpPr>
            <a:spLocks noGrp="1"/>
          </p:cNvSpPr>
          <p:nvPr>
            <p:ph type="title"/>
          </p:nvPr>
        </p:nvSpPr>
        <p:spPr/>
        <p:txBody>
          <a:bodyPr/>
          <a:lstStyle/>
          <a:p>
            <a:r>
              <a:rPr lang="en-IN" dirty="0"/>
              <a:t>Stationarity: ACF &amp; PACF plots </a:t>
            </a:r>
          </a:p>
        </p:txBody>
      </p:sp>
      <p:sp>
        <p:nvSpPr>
          <p:cNvPr id="3" name="Text Placeholder 2">
            <a:extLst>
              <a:ext uri="{FF2B5EF4-FFF2-40B4-BE49-F238E27FC236}">
                <a16:creationId xmlns:a16="http://schemas.microsoft.com/office/drawing/2014/main" id="{92FBE979-38F9-D662-B550-B1CD4E7A7D55}"/>
              </a:ext>
            </a:extLst>
          </p:cNvPr>
          <p:cNvSpPr>
            <a:spLocks noGrp="1"/>
          </p:cNvSpPr>
          <p:nvPr>
            <p:ph type="body" idx="1"/>
          </p:nvPr>
        </p:nvSpPr>
        <p:spPr/>
        <p:txBody>
          <a:bodyPr/>
          <a:lstStyle/>
          <a:p>
            <a:pPr marL="114300" indent="0">
              <a:buNone/>
            </a:pPr>
            <a:endParaRPr lang="en-IN" dirty="0"/>
          </a:p>
        </p:txBody>
      </p:sp>
      <p:pic>
        <p:nvPicPr>
          <p:cNvPr id="7" name="Picture 6">
            <a:extLst>
              <a:ext uri="{FF2B5EF4-FFF2-40B4-BE49-F238E27FC236}">
                <a16:creationId xmlns:a16="http://schemas.microsoft.com/office/drawing/2014/main" id="{D6CDF609-C7BC-924F-8AA4-37C80E3FC84B}"/>
              </a:ext>
            </a:extLst>
          </p:cNvPr>
          <p:cNvPicPr>
            <a:picLocks noChangeAspect="1"/>
          </p:cNvPicPr>
          <p:nvPr/>
        </p:nvPicPr>
        <p:blipFill>
          <a:blip r:embed="rId2"/>
          <a:srcRect/>
          <a:stretch/>
        </p:blipFill>
        <p:spPr>
          <a:xfrm>
            <a:off x="311700" y="1171600"/>
            <a:ext cx="8520600" cy="3397200"/>
          </a:xfrm>
          <a:prstGeom prst="rect">
            <a:avLst/>
          </a:prstGeom>
        </p:spPr>
      </p:pic>
    </p:spTree>
    <p:extLst>
      <p:ext uri="{BB962C8B-B14F-4D97-AF65-F5344CB8AC3E}">
        <p14:creationId xmlns:p14="http://schemas.microsoft.com/office/powerpoint/2010/main" val="33124597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26891-8EF1-E36F-9179-01014B696C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CF14CA-FB91-03CD-817A-51233EF93A78}"/>
              </a:ext>
            </a:extLst>
          </p:cNvPr>
          <p:cNvSpPr>
            <a:spLocks noGrp="1"/>
          </p:cNvSpPr>
          <p:nvPr>
            <p:ph type="title"/>
          </p:nvPr>
        </p:nvSpPr>
        <p:spPr/>
        <p:txBody>
          <a:bodyPr/>
          <a:lstStyle/>
          <a:p>
            <a:r>
              <a:rPr lang="en-IN" dirty="0"/>
              <a:t>Stationarity: ACF &amp; PACF plots (Contd.) </a:t>
            </a:r>
          </a:p>
        </p:txBody>
      </p:sp>
      <p:sp>
        <p:nvSpPr>
          <p:cNvPr id="3" name="Text Placeholder 2">
            <a:extLst>
              <a:ext uri="{FF2B5EF4-FFF2-40B4-BE49-F238E27FC236}">
                <a16:creationId xmlns:a16="http://schemas.microsoft.com/office/drawing/2014/main" id="{E2EC80B5-474A-9528-9E98-199B28EA8401}"/>
              </a:ext>
            </a:extLst>
          </p:cNvPr>
          <p:cNvSpPr>
            <a:spLocks noGrp="1"/>
          </p:cNvSpPr>
          <p:nvPr>
            <p:ph type="body" idx="1"/>
          </p:nvPr>
        </p:nvSpPr>
        <p:spPr/>
        <p:txBody>
          <a:bodyPr/>
          <a:lstStyle/>
          <a:p>
            <a:pPr marL="114300" indent="0">
              <a:buNone/>
            </a:pPr>
            <a:endParaRPr lang="en-IN" dirty="0"/>
          </a:p>
        </p:txBody>
      </p:sp>
      <p:pic>
        <p:nvPicPr>
          <p:cNvPr id="7" name="Picture 6">
            <a:extLst>
              <a:ext uri="{FF2B5EF4-FFF2-40B4-BE49-F238E27FC236}">
                <a16:creationId xmlns:a16="http://schemas.microsoft.com/office/drawing/2014/main" id="{9F80ADEC-EDB3-478A-D643-D23FB8D0E345}"/>
              </a:ext>
            </a:extLst>
          </p:cNvPr>
          <p:cNvPicPr>
            <a:picLocks noChangeAspect="1"/>
          </p:cNvPicPr>
          <p:nvPr/>
        </p:nvPicPr>
        <p:blipFill>
          <a:blip r:embed="rId2"/>
          <a:srcRect/>
          <a:stretch/>
        </p:blipFill>
        <p:spPr>
          <a:xfrm>
            <a:off x="311700" y="1171600"/>
            <a:ext cx="8520600" cy="3397200"/>
          </a:xfrm>
          <a:prstGeom prst="rect">
            <a:avLst/>
          </a:prstGeom>
        </p:spPr>
      </p:pic>
    </p:spTree>
    <p:extLst>
      <p:ext uri="{BB962C8B-B14F-4D97-AF65-F5344CB8AC3E}">
        <p14:creationId xmlns:p14="http://schemas.microsoft.com/office/powerpoint/2010/main" val="17066054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D3A3F-47C6-5F7B-7716-8610CD84B2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5BDA99-23F7-D838-4EF3-2248D0948A24}"/>
              </a:ext>
            </a:extLst>
          </p:cNvPr>
          <p:cNvSpPr>
            <a:spLocks noGrp="1"/>
          </p:cNvSpPr>
          <p:nvPr>
            <p:ph type="title"/>
          </p:nvPr>
        </p:nvSpPr>
        <p:spPr>
          <a:xfrm>
            <a:off x="311700" y="446049"/>
            <a:ext cx="8520600" cy="612176"/>
          </a:xfrm>
        </p:spPr>
        <p:txBody>
          <a:bodyPr/>
          <a:lstStyle/>
          <a:p>
            <a:r>
              <a:rPr lang="en-IN" sz="2600" dirty="0"/>
              <a:t>Stationarity: Differencing for non –stationary series </a:t>
            </a:r>
          </a:p>
        </p:txBody>
      </p:sp>
      <p:sp>
        <p:nvSpPr>
          <p:cNvPr id="3" name="Text Placeholder 2">
            <a:extLst>
              <a:ext uri="{FF2B5EF4-FFF2-40B4-BE49-F238E27FC236}">
                <a16:creationId xmlns:a16="http://schemas.microsoft.com/office/drawing/2014/main" id="{7B1416C2-C30A-8421-4687-3F4772AAF1C0}"/>
              </a:ext>
            </a:extLst>
          </p:cNvPr>
          <p:cNvSpPr>
            <a:spLocks noGrp="1"/>
          </p:cNvSpPr>
          <p:nvPr>
            <p:ph type="body" idx="1"/>
          </p:nvPr>
        </p:nvSpPr>
        <p:spPr/>
        <p:txBody>
          <a:bodyPr/>
          <a:lstStyle/>
          <a:p>
            <a:pPr marL="114300" indent="0">
              <a:buNone/>
            </a:pPr>
            <a:endParaRPr lang="en-IN" dirty="0"/>
          </a:p>
        </p:txBody>
      </p:sp>
      <p:pic>
        <p:nvPicPr>
          <p:cNvPr id="7" name="Picture 6">
            <a:extLst>
              <a:ext uri="{FF2B5EF4-FFF2-40B4-BE49-F238E27FC236}">
                <a16:creationId xmlns:a16="http://schemas.microsoft.com/office/drawing/2014/main" id="{A9BAB738-18A4-47CD-D26C-842A39586407}"/>
              </a:ext>
            </a:extLst>
          </p:cNvPr>
          <p:cNvPicPr>
            <a:picLocks noChangeAspect="1"/>
          </p:cNvPicPr>
          <p:nvPr/>
        </p:nvPicPr>
        <p:blipFill>
          <a:blip r:embed="rId2"/>
          <a:srcRect/>
          <a:stretch/>
        </p:blipFill>
        <p:spPr>
          <a:xfrm>
            <a:off x="311700" y="1171600"/>
            <a:ext cx="8520600" cy="3397200"/>
          </a:xfrm>
          <a:prstGeom prst="rect">
            <a:avLst/>
          </a:prstGeom>
        </p:spPr>
      </p:pic>
    </p:spTree>
    <p:extLst>
      <p:ext uri="{BB962C8B-B14F-4D97-AF65-F5344CB8AC3E}">
        <p14:creationId xmlns:p14="http://schemas.microsoft.com/office/powerpoint/2010/main" val="35972907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57884-FCCC-4E9E-9229-0F28258286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CB4223-5B6D-1D52-E5FD-358FEC285842}"/>
              </a:ext>
            </a:extLst>
          </p:cNvPr>
          <p:cNvSpPr>
            <a:spLocks noGrp="1"/>
          </p:cNvSpPr>
          <p:nvPr>
            <p:ph type="title"/>
          </p:nvPr>
        </p:nvSpPr>
        <p:spPr>
          <a:xfrm>
            <a:off x="311700" y="446049"/>
            <a:ext cx="8520600" cy="612176"/>
          </a:xfrm>
        </p:spPr>
        <p:txBody>
          <a:bodyPr/>
          <a:lstStyle/>
          <a:p>
            <a:r>
              <a:rPr lang="en-IN" sz="2400" dirty="0"/>
              <a:t>Stationarity: Differencing for non –stationary series (contd.)</a:t>
            </a:r>
          </a:p>
        </p:txBody>
      </p:sp>
      <p:sp>
        <p:nvSpPr>
          <p:cNvPr id="3" name="Text Placeholder 2">
            <a:extLst>
              <a:ext uri="{FF2B5EF4-FFF2-40B4-BE49-F238E27FC236}">
                <a16:creationId xmlns:a16="http://schemas.microsoft.com/office/drawing/2014/main" id="{4BE5E272-2D64-903B-250C-14C870856EF8}"/>
              </a:ext>
            </a:extLst>
          </p:cNvPr>
          <p:cNvSpPr>
            <a:spLocks noGrp="1"/>
          </p:cNvSpPr>
          <p:nvPr>
            <p:ph type="body" idx="1"/>
          </p:nvPr>
        </p:nvSpPr>
        <p:spPr/>
        <p:txBody>
          <a:bodyPr/>
          <a:lstStyle/>
          <a:p>
            <a:pPr marL="114300" indent="0">
              <a:buNone/>
            </a:pPr>
            <a:endParaRPr lang="en-IN" dirty="0"/>
          </a:p>
        </p:txBody>
      </p:sp>
      <p:pic>
        <p:nvPicPr>
          <p:cNvPr id="7" name="Picture 6">
            <a:extLst>
              <a:ext uri="{FF2B5EF4-FFF2-40B4-BE49-F238E27FC236}">
                <a16:creationId xmlns:a16="http://schemas.microsoft.com/office/drawing/2014/main" id="{D11556AD-AEB1-4C6A-B543-84B73CE0CAB5}"/>
              </a:ext>
            </a:extLst>
          </p:cNvPr>
          <p:cNvPicPr>
            <a:picLocks noChangeAspect="1"/>
          </p:cNvPicPr>
          <p:nvPr/>
        </p:nvPicPr>
        <p:blipFill>
          <a:blip r:embed="rId2"/>
          <a:srcRect/>
          <a:stretch/>
        </p:blipFill>
        <p:spPr>
          <a:xfrm>
            <a:off x="311700" y="1171600"/>
            <a:ext cx="8520600" cy="3397200"/>
          </a:xfrm>
          <a:prstGeom prst="rect">
            <a:avLst/>
          </a:prstGeom>
        </p:spPr>
      </p:pic>
    </p:spTree>
    <p:extLst>
      <p:ext uri="{BB962C8B-B14F-4D97-AF65-F5344CB8AC3E}">
        <p14:creationId xmlns:p14="http://schemas.microsoft.com/office/powerpoint/2010/main" val="24530812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8A03D-98B4-A784-4E6F-3E2DBA29E3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89746B-96EE-A68B-5993-C4507EA8C255}"/>
              </a:ext>
            </a:extLst>
          </p:cNvPr>
          <p:cNvSpPr>
            <a:spLocks noGrp="1"/>
          </p:cNvSpPr>
          <p:nvPr>
            <p:ph type="title"/>
          </p:nvPr>
        </p:nvSpPr>
        <p:spPr>
          <a:xfrm>
            <a:off x="311700" y="446049"/>
            <a:ext cx="8520600" cy="612176"/>
          </a:xfrm>
        </p:spPr>
        <p:txBody>
          <a:bodyPr/>
          <a:lstStyle/>
          <a:p>
            <a:r>
              <a:rPr lang="en-IN" sz="2600" dirty="0"/>
              <a:t>Stationarity: Additive decomposition  </a:t>
            </a:r>
          </a:p>
        </p:txBody>
      </p:sp>
      <p:sp>
        <p:nvSpPr>
          <p:cNvPr id="3" name="Text Placeholder 2">
            <a:extLst>
              <a:ext uri="{FF2B5EF4-FFF2-40B4-BE49-F238E27FC236}">
                <a16:creationId xmlns:a16="http://schemas.microsoft.com/office/drawing/2014/main" id="{A316B283-59C9-A86B-2C7B-4D1FF236BB6D}"/>
              </a:ext>
            </a:extLst>
          </p:cNvPr>
          <p:cNvSpPr>
            <a:spLocks noGrp="1"/>
          </p:cNvSpPr>
          <p:nvPr>
            <p:ph type="body" idx="1"/>
          </p:nvPr>
        </p:nvSpPr>
        <p:spPr/>
        <p:txBody>
          <a:bodyPr/>
          <a:lstStyle/>
          <a:p>
            <a:pPr marL="114300" indent="0">
              <a:buNone/>
            </a:pPr>
            <a:endParaRPr lang="en-IN" dirty="0"/>
          </a:p>
        </p:txBody>
      </p:sp>
      <p:pic>
        <p:nvPicPr>
          <p:cNvPr id="7" name="Picture 6">
            <a:extLst>
              <a:ext uri="{FF2B5EF4-FFF2-40B4-BE49-F238E27FC236}">
                <a16:creationId xmlns:a16="http://schemas.microsoft.com/office/drawing/2014/main" id="{EF2547AF-536A-924A-B14E-262063E4054F}"/>
              </a:ext>
            </a:extLst>
          </p:cNvPr>
          <p:cNvPicPr>
            <a:picLocks noChangeAspect="1"/>
          </p:cNvPicPr>
          <p:nvPr/>
        </p:nvPicPr>
        <p:blipFill>
          <a:blip r:embed="rId2"/>
          <a:srcRect/>
          <a:stretch/>
        </p:blipFill>
        <p:spPr>
          <a:xfrm>
            <a:off x="311700" y="1171600"/>
            <a:ext cx="8520599" cy="3397200"/>
          </a:xfrm>
          <a:prstGeom prst="rect">
            <a:avLst/>
          </a:prstGeom>
        </p:spPr>
      </p:pic>
    </p:spTree>
    <p:extLst>
      <p:ext uri="{BB962C8B-B14F-4D97-AF65-F5344CB8AC3E}">
        <p14:creationId xmlns:p14="http://schemas.microsoft.com/office/powerpoint/2010/main" val="33975435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E1F7A-8E18-7A36-38B8-456832B38D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225D46-42CF-6CE6-2BCD-81399EE87137}"/>
              </a:ext>
            </a:extLst>
          </p:cNvPr>
          <p:cNvSpPr>
            <a:spLocks noGrp="1"/>
          </p:cNvSpPr>
          <p:nvPr>
            <p:ph type="title"/>
          </p:nvPr>
        </p:nvSpPr>
        <p:spPr>
          <a:xfrm>
            <a:off x="311700" y="446049"/>
            <a:ext cx="8520600" cy="612176"/>
          </a:xfrm>
        </p:spPr>
        <p:txBody>
          <a:bodyPr/>
          <a:lstStyle/>
          <a:p>
            <a:r>
              <a:rPr lang="en-IN" sz="2600" dirty="0"/>
              <a:t>Stationarity: Additive decomposition (Contd.)</a:t>
            </a:r>
          </a:p>
        </p:txBody>
      </p:sp>
      <p:sp>
        <p:nvSpPr>
          <p:cNvPr id="3" name="Text Placeholder 2">
            <a:extLst>
              <a:ext uri="{FF2B5EF4-FFF2-40B4-BE49-F238E27FC236}">
                <a16:creationId xmlns:a16="http://schemas.microsoft.com/office/drawing/2014/main" id="{448F5744-51FF-4101-7219-CDC813A1E05D}"/>
              </a:ext>
            </a:extLst>
          </p:cNvPr>
          <p:cNvSpPr>
            <a:spLocks noGrp="1"/>
          </p:cNvSpPr>
          <p:nvPr>
            <p:ph type="body" idx="1"/>
          </p:nvPr>
        </p:nvSpPr>
        <p:spPr/>
        <p:txBody>
          <a:bodyPr/>
          <a:lstStyle/>
          <a:p>
            <a:pPr marL="114300" indent="0">
              <a:buNone/>
            </a:pPr>
            <a:endParaRPr lang="en-IN" dirty="0"/>
          </a:p>
        </p:txBody>
      </p:sp>
      <p:pic>
        <p:nvPicPr>
          <p:cNvPr id="7" name="Picture 6">
            <a:extLst>
              <a:ext uri="{FF2B5EF4-FFF2-40B4-BE49-F238E27FC236}">
                <a16:creationId xmlns:a16="http://schemas.microsoft.com/office/drawing/2014/main" id="{5826EB4B-15E7-8404-DA04-622E00C05953}"/>
              </a:ext>
            </a:extLst>
          </p:cNvPr>
          <p:cNvPicPr>
            <a:picLocks noChangeAspect="1"/>
          </p:cNvPicPr>
          <p:nvPr/>
        </p:nvPicPr>
        <p:blipFill>
          <a:blip r:embed="rId2"/>
          <a:srcRect/>
          <a:stretch/>
        </p:blipFill>
        <p:spPr>
          <a:xfrm>
            <a:off x="311701" y="1171600"/>
            <a:ext cx="8579538" cy="3397200"/>
          </a:xfrm>
          <a:prstGeom prst="rect">
            <a:avLst/>
          </a:prstGeom>
        </p:spPr>
      </p:pic>
    </p:spTree>
    <p:extLst>
      <p:ext uri="{BB962C8B-B14F-4D97-AF65-F5344CB8AC3E}">
        <p14:creationId xmlns:p14="http://schemas.microsoft.com/office/powerpoint/2010/main" val="26729424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F179F-34FA-EB5E-3ED1-E4AF8ED0A1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580EA1-1638-5494-6D8D-34EECA668A2C}"/>
              </a:ext>
            </a:extLst>
          </p:cNvPr>
          <p:cNvSpPr>
            <a:spLocks noGrp="1"/>
          </p:cNvSpPr>
          <p:nvPr>
            <p:ph type="title"/>
          </p:nvPr>
        </p:nvSpPr>
        <p:spPr>
          <a:xfrm>
            <a:off x="311700" y="446049"/>
            <a:ext cx="8520600" cy="612176"/>
          </a:xfrm>
        </p:spPr>
        <p:txBody>
          <a:bodyPr/>
          <a:lstStyle/>
          <a:p>
            <a:r>
              <a:rPr lang="en-IN" sz="2600" dirty="0"/>
              <a:t>Stationarity: Tests after differencing </a:t>
            </a:r>
          </a:p>
        </p:txBody>
      </p:sp>
      <p:sp>
        <p:nvSpPr>
          <p:cNvPr id="3" name="Text Placeholder 2">
            <a:extLst>
              <a:ext uri="{FF2B5EF4-FFF2-40B4-BE49-F238E27FC236}">
                <a16:creationId xmlns:a16="http://schemas.microsoft.com/office/drawing/2014/main" id="{1FC01064-CC23-71B9-1863-8FF00E5D027B}"/>
              </a:ext>
            </a:extLst>
          </p:cNvPr>
          <p:cNvSpPr>
            <a:spLocks noGrp="1"/>
          </p:cNvSpPr>
          <p:nvPr>
            <p:ph type="body" idx="1"/>
          </p:nvPr>
        </p:nvSpPr>
        <p:spPr/>
        <p:txBody>
          <a:bodyPr/>
          <a:lstStyle/>
          <a:p>
            <a:pPr marL="114300" indent="0">
              <a:buNone/>
            </a:pPr>
            <a:endParaRPr lang="en-IN" dirty="0"/>
          </a:p>
        </p:txBody>
      </p:sp>
      <p:pic>
        <p:nvPicPr>
          <p:cNvPr id="7" name="Picture 6">
            <a:extLst>
              <a:ext uri="{FF2B5EF4-FFF2-40B4-BE49-F238E27FC236}">
                <a16:creationId xmlns:a16="http://schemas.microsoft.com/office/drawing/2014/main" id="{D59C9A32-5B93-72DE-7FA4-D8B741BDA69E}"/>
              </a:ext>
            </a:extLst>
          </p:cNvPr>
          <p:cNvPicPr>
            <a:picLocks noChangeAspect="1"/>
          </p:cNvPicPr>
          <p:nvPr/>
        </p:nvPicPr>
        <p:blipFill>
          <a:blip r:embed="rId2"/>
          <a:srcRect/>
          <a:stretch/>
        </p:blipFill>
        <p:spPr>
          <a:xfrm>
            <a:off x="311700" y="1171600"/>
            <a:ext cx="8520599" cy="3397200"/>
          </a:xfrm>
          <a:prstGeom prst="rect">
            <a:avLst/>
          </a:prstGeom>
        </p:spPr>
      </p:pic>
    </p:spTree>
    <p:extLst>
      <p:ext uri="{BB962C8B-B14F-4D97-AF65-F5344CB8AC3E}">
        <p14:creationId xmlns:p14="http://schemas.microsoft.com/office/powerpoint/2010/main" val="33779706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4ACBB-CE6D-01A8-FB19-824A461E1C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4BFEAC-C26E-25D1-CF95-E02D92B8D6BF}"/>
              </a:ext>
            </a:extLst>
          </p:cNvPr>
          <p:cNvSpPr>
            <a:spLocks noGrp="1"/>
          </p:cNvSpPr>
          <p:nvPr>
            <p:ph type="title"/>
          </p:nvPr>
        </p:nvSpPr>
        <p:spPr/>
        <p:txBody>
          <a:bodyPr/>
          <a:lstStyle/>
          <a:p>
            <a:r>
              <a:rPr lang="en-IN" sz="2600" dirty="0"/>
              <a:t>Stationarity: ACF &amp; PACF plots after differencing </a:t>
            </a:r>
          </a:p>
        </p:txBody>
      </p:sp>
      <p:sp>
        <p:nvSpPr>
          <p:cNvPr id="3" name="Text Placeholder 2">
            <a:extLst>
              <a:ext uri="{FF2B5EF4-FFF2-40B4-BE49-F238E27FC236}">
                <a16:creationId xmlns:a16="http://schemas.microsoft.com/office/drawing/2014/main" id="{383D69F3-A039-3929-2188-0D6FC14401A7}"/>
              </a:ext>
            </a:extLst>
          </p:cNvPr>
          <p:cNvSpPr>
            <a:spLocks noGrp="1"/>
          </p:cNvSpPr>
          <p:nvPr>
            <p:ph type="body" idx="1"/>
          </p:nvPr>
        </p:nvSpPr>
        <p:spPr/>
        <p:txBody>
          <a:bodyPr/>
          <a:lstStyle/>
          <a:p>
            <a:pPr marL="114300" indent="0">
              <a:buNone/>
            </a:pPr>
            <a:endParaRPr lang="en-IN" dirty="0"/>
          </a:p>
        </p:txBody>
      </p:sp>
      <p:pic>
        <p:nvPicPr>
          <p:cNvPr id="7" name="Picture 6">
            <a:extLst>
              <a:ext uri="{FF2B5EF4-FFF2-40B4-BE49-F238E27FC236}">
                <a16:creationId xmlns:a16="http://schemas.microsoft.com/office/drawing/2014/main" id="{738C2725-39C7-6948-C7CC-C6697F9CFD72}"/>
              </a:ext>
            </a:extLst>
          </p:cNvPr>
          <p:cNvPicPr>
            <a:picLocks noChangeAspect="1"/>
          </p:cNvPicPr>
          <p:nvPr/>
        </p:nvPicPr>
        <p:blipFill>
          <a:blip r:embed="rId2"/>
          <a:srcRect/>
          <a:stretch/>
        </p:blipFill>
        <p:spPr>
          <a:xfrm>
            <a:off x="311700" y="1171600"/>
            <a:ext cx="8520600" cy="3397200"/>
          </a:xfrm>
          <a:prstGeom prst="rect">
            <a:avLst/>
          </a:prstGeom>
        </p:spPr>
      </p:pic>
    </p:spTree>
    <p:extLst>
      <p:ext uri="{BB962C8B-B14F-4D97-AF65-F5344CB8AC3E}">
        <p14:creationId xmlns:p14="http://schemas.microsoft.com/office/powerpoint/2010/main" val="214296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95130-038E-7A75-BBE2-9CBE93CA6F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C6768B-6197-3411-60B4-BC5CACAD1FA7}"/>
              </a:ext>
            </a:extLst>
          </p:cNvPr>
          <p:cNvSpPr>
            <a:spLocks noGrp="1"/>
          </p:cNvSpPr>
          <p:nvPr>
            <p:ph type="title"/>
          </p:nvPr>
        </p:nvSpPr>
        <p:spPr/>
        <p:txBody>
          <a:bodyPr/>
          <a:lstStyle/>
          <a:p>
            <a:r>
              <a:rPr lang="en-IN" sz="2400" dirty="0"/>
              <a:t>Stationarity: ACF &amp; PACF plots after differencing (Contd.) </a:t>
            </a:r>
          </a:p>
        </p:txBody>
      </p:sp>
      <p:sp>
        <p:nvSpPr>
          <p:cNvPr id="3" name="Text Placeholder 2">
            <a:extLst>
              <a:ext uri="{FF2B5EF4-FFF2-40B4-BE49-F238E27FC236}">
                <a16:creationId xmlns:a16="http://schemas.microsoft.com/office/drawing/2014/main" id="{46590173-04AC-DA1F-AFB1-50DA9886F0B9}"/>
              </a:ext>
            </a:extLst>
          </p:cNvPr>
          <p:cNvSpPr>
            <a:spLocks noGrp="1"/>
          </p:cNvSpPr>
          <p:nvPr>
            <p:ph type="body" idx="1"/>
          </p:nvPr>
        </p:nvSpPr>
        <p:spPr/>
        <p:txBody>
          <a:bodyPr/>
          <a:lstStyle/>
          <a:p>
            <a:pPr marL="114300" indent="0">
              <a:buNone/>
            </a:pPr>
            <a:endParaRPr lang="en-IN" dirty="0"/>
          </a:p>
        </p:txBody>
      </p:sp>
      <p:pic>
        <p:nvPicPr>
          <p:cNvPr id="7" name="Picture 6">
            <a:extLst>
              <a:ext uri="{FF2B5EF4-FFF2-40B4-BE49-F238E27FC236}">
                <a16:creationId xmlns:a16="http://schemas.microsoft.com/office/drawing/2014/main" id="{51618C78-1A49-DCD1-1722-212B6F2FDE7E}"/>
              </a:ext>
            </a:extLst>
          </p:cNvPr>
          <p:cNvPicPr>
            <a:picLocks noChangeAspect="1"/>
          </p:cNvPicPr>
          <p:nvPr/>
        </p:nvPicPr>
        <p:blipFill>
          <a:blip r:embed="rId2"/>
          <a:srcRect/>
          <a:stretch/>
        </p:blipFill>
        <p:spPr>
          <a:xfrm>
            <a:off x="311700" y="1171600"/>
            <a:ext cx="8520600" cy="3397200"/>
          </a:xfrm>
          <a:prstGeom prst="rect">
            <a:avLst/>
          </a:prstGeom>
        </p:spPr>
      </p:pic>
    </p:spTree>
    <p:extLst>
      <p:ext uri="{BB962C8B-B14F-4D97-AF65-F5344CB8AC3E}">
        <p14:creationId xmlns:p14="http://schemas.microsoft.com/office/powerpoint/2010/main" val="37887840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702D2-92A0-6ADB-4A72-81953B9222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0FB7D9-5339-4D05-73B3-AF8BFDE9A2EB}"/>
              </a:ext>
            </a:extLst>
          </p:cNvPr>
          <p:cNvSpPr>
            <a:spLocks noGrp="1"/>
          </p:cNvSpPr>
          <p:nvPr>
            <p:ph type="title"/>
          </p:nvPr>
        </p:nvSpPr>
        <p:spPr>
          <a:xfrm>
            <a:off x="311700" y="446049"/>
            <a:ext cx="8520600" cy="612176"/>
          </a:xfrm>
        </p:spPr>
        <p:txBody>
          <a:bodyPr/>
          <a:lstStyle/>
          <a:p>
            <a:r>
              <a:rPr lang="en-IN" sz="2600" dirty="0"/>
              <a:t>Stationarity: Tests after differencing again </a:t>
            </a:r>
          </a:p>
        </p:txBody>
      </p:sp>
      <p:sp>
        <p:nvSpPr>
          <p:cNvPr id="3" name="Text Placeholder 2">
            <a:extLst>
              <a:ext uri="{FF2B5EF4-FFF2-40B4-BE49-F238E27FC236}">
                <a16:creationId xmlns:a16="http://schemas.microsoft.com/office/drawing/2014/main" id="{83259017-A718-80DA-6F58-ED76A1FDB35C}"/>
              </a:ext>
            </a:extLst>
          </p:cNvPr>
          <p:cNvSpPr>
            <a:spLocks noGrp="1"/>
          </p:cNvSpPr>
          <p:nvPr>
            <p:ph type="body" idx="1"/>
          </p:nvPr>
        </p:nvSpPr>
        <p:spPr/>
        <p:txBody>
          <a:bodyPr/>
          <a:lstStyle/>
          <a:p>
            <a:pPr marL="114300" indent="0">
              <a:buNone/>
            </a:pPr>
            <a:endParaRPr lang="en-IN" dirty="0"/>
          </a:p>
        </p:txBody>
      </p:sp>
      <p:pic>
        <p:nvPicPr>
          <p:cNvPr id="7" name="Picture 6">
            <a:extLst>
              <a:ext uri="{FF2B5EF4-FFF2-40B4-BE49-F238E27FC236}">
                <a16:creationId xmlns:a16="http://schemas.microsoft.com/office/drawing/2014/main" id="{B5ED6E9F-FCD4-FFA2-0339-D4DAEBD749A1}"/>
              </a:ext>
            </a:extLst>
          </p:cNvPr>
          <p:cNvPicPr>
            <a:picLocks noChangeAspect="1"/>
          </p:cNvPicPr>
          <p:nvPr/>
        </p:nvPicPr>
        <p:blipFill>
          <a:blip r:embed="rId2"/>
          <a:srcRect/>
          <a:stretch/>
        </p:blipFill>
        <p:spPr>
          <a:xfrm>
            <a:off x="311700" y="1974488"/>
            <a:ext cx="8579539" cy="2523172"/>
          </a:xfrm>
          <a:prstGeom prst="rect">
            <a:avLst/>
          </a:prstGeom>
        </p:spPr>
      </p:pic>
    </p:spTree>
    <p:extLst>
      <p:ext uri="{BB962C8B-B14F-4D97-AF65-F5344CB8AC3E}">
        <p14:creationId xmlns:p14="http://schemas.microsoft.com/office/powerpoint/2010/main" val="10278789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ED73C-8823-7426-CA10-13645356E1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FD0AE0-7753-6D48-2AC7-D3708F7E17F5}"/>
              </a:ext>
            </a:extLst>
          </p:cNvPr>
          <p:cNvSpPr>
            <a:spLocks noGrp="1"/>
          </p:cNvSpPr>
          <p:nvPr>
            <p:ph type="title"/>
          </p:nvPr>
        </p:nvSpPr>
        <p:spPr>
          <a:xfrm>
            <a:off x="311700" y="446049"/>
            <a:ext cx="8520600" cy="612176"/>
          </a:xfrm>
        </p:spPr>
        <p:txBody>
          <a:bodyPr/>
          <a:lstStyle/>
          <a:p>
            <a:r>
              <a:rPr lang="en-IN" sz="2600" dirty="0"/>
              <a:t>Final Models and Residual Analysis </a:t>
            </a:r>
          </a:p>
        </p:txBody>
      </p:sp>
      <p:sp>
        <p:nvSpPr>
          <p:cNvPr id="3" name="Text Placeholder 2">
            <a:extLst>
              <a:ext uri="{FF2B5EF4-FFF2-40B4-BE49-F238E27FC236}">
                <a16:creationId xmlns:a16="http://schemas.microsoft.com/office/drawing/2014/main" id="{45043DA6-379E-5B2E-5269-6B9078C5929E}"/>
              </a:ext>
            </a:extLst>
          </p:cNvPr>
          <p:cNvSpPr>
            <a:spLocks noGrp="1"/>
          </p:cNvSpPr>
          <p:nvPr>
            <p:ph type="body" idx="1"/>
          </p:nvPr>
        </p:nvSpPr>
        <p:spPr/>
        <p:txBody>
          <a:bodyPr/>
          <a:lstStyle/>
          <a:p>
            <a:pPr marL="114300" indent="0">
              <a:buNone/>
            </a:pPr>
            <a:endParaRPr lang="en-IN" dirty="0"/>
          </a:p>
        </p:txBody>
      </p:sp>
      <p:pic>
        <p:nvPicPr>
          <p:cNvPr id="7" name="Picture 6">
            <a:extLst>
              <a:ext uri="{FF2B5EF4-FFF2-40B4-BE49-F238E27FC236}">
                <a16:creationId xmlns:a16="http://schemas.microsoft.com/office/drawing/2014/main" id="{BF3EA9E7-04AF-13D4-6E4B-E7FFFF135C58}"/>
              </a:ext>
            </a:extLst>
          </p:cNvPr>
          <p:cNvPicPr>
            <a:picLocks noChangeAspect="1"/>
          </p:cNvPicPr>
          <p:nvPr/>
        </p:nvPicPr>
        <p:blipFill>
          <a:blip r:embed="rId2"/>
          <a:srcRect/>
          <a:stretch/>
        </p:blipFill>
        <p:spPr>
          <a:xfrm>
            <a:off x="311700" y="1171600"/>
            <a:ext cx="8520600" cy="3397200"/>
          </a:xfrm>
          <a:prstGeom prst="rect">
            <a:avLst/>
          </a:prstGeom>
        </p:spPr>
      </p:pic>
    </p:spTree>
    <p:extLst>
      <p:ext uri="{BB962C8B-B14F-4D97-AF65-F5344CB8AC3E}">
        <p14:creationId xmlns:p14="http://schemas.microsoft.com/office/powerpoint/2010/main" val="2225826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FC34E-5776-2978-42BB-64247BF4B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8A1406-DF39-A7A3-5630-3C1BBC7F3644}"/>
              </a:ext>
            </a:extLst>
          </p:cNvPr>
          <p:cNvSpPr>
            <a:spLocks noGrp="1"/>
          </p:cNvSpPr>
          <p:nvPr>
            <p:ph type="title"/>
          </p:nvPr>
        </p:nvSpPr>
        <p:spPr>
          <a:xfrm>
            <a:off x="311700" y="446049"/>
            <a:ext cx="8520600" cy="612176"/>
          </a:xfrm>
        </p:spPr>
        <p:txBody>
          <a:bodyPr/>
          <a:lstStyle/>
          <a:p>
            <a:r>
              <a:rPr lang="en-IN" sz="2600" dirty="0"/>
              <a:t>Observed and Forecasted plots </a:t>
            </a:r>
          </a:p>
        </p:txBody>
      </p:sp>
      <p:sp>
        <p:nvSpPr>
          <p:cNvPr id="3" name="Text Placeholder 2">
            <a:extLst>
              <a:ext uri="{FF2B5EF4-FFF2-40B4-BE49-F238E27FC236}">
                <a16:creationId xmlns:a16="http://schemas.microsoft.com/office/drawing/2014/main" id="{20D1CDEE-5467-DA23-E89A-E160119FF7DF}"/>
              </a:ext>
            </a:extLst>
          </p:cNvPr>
          <p:cNvSpPr>
            <a:spLocks noGrp="1"/>
          </p:cNvSpPr>
          <p:nvPr>
            <p:ph type="body" idx="1"/>
          </p:nvPr>
        </p:nvSpPr>
        <p:spPr/>
        <p:txBody>
          <a:bodyPr/>
          <a:lstStyle/>
          <a:p>
            <a:pPr marL="114300" indent="0">
              <a:buNone/>
            </a:pPr>
            <a:endParaRPr lang="en-IN" dirty="0"/>
          </a:p>
        </p:txBody>
      </p:sp>
      <p:pic>
        <p:nvPicPr>
          <p:cNvPr id="7" name="Picture 6">
            <a:extLst>
              <a:ext uri="{FF2B5EF4-FFF2-40B4-BE49-F238E27FC236}">
                <a16:creationId xmlns:a16="http://schemas.microsoft.com/office/drawing/2014/main" id="{B9F2E890-3E78-93CA-7DA4-7024EBE32391}"/>
              </a:ext>
            </a:extLst>
          </p:cNvPr>
          <p:cNvPicPr>
            <a:picLocks noChangeAspect="1"/>
          </p:cNvPicPr>
          <p:nvPr/>
        </p:nvPicPr>
        <p:blipFill>
          <a:blip r:embed="rId2"/>
          <a:srcRect/>
          <a:stretch/>
        </p:blipFill>
        <p:spPr>
          <a:xfrm>
            <a:off x="311700" y="1171600"/>
            <a:ext cx="8520600" cy="3397200"/>
          </a:xfrm>
          <a:prstGeom prst="rect">
            <a:avLst/>
          </a:prstGeom>
        </p:spPr>
      </p:pic>
    </p:spTree>
    <p:extLst>
      <p:ext uri="{BB962C8B-B14F-4D97-AF65-F5344CB8AC3E}">
        <p14:creationId xmlns:p14="http://schemas.microsoft.com/office/powerpoint/2010/main" val="29825368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3A2D7-B7B4-7CE2-12A5-9677F0B740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782A59-0053-E8DE-FA8F-371091A35314}"/>
              </a:ext>
            </a:extLst>
          </p:cNvPr>
          <p:cNvSpPr>
            <a:spLocks noGrp="1"/>
          </p:cNvSpPr>
          <p:nvPr>
            <p:ph type="title"/>
          </p:nvPr>
        </p:nvSpPr>
        <p:spPr>
          <a:xfrm>
            <a:off x="311700" y="446049"/>
            <a:ext cx="8520600" cy="612176"/>
          </a:xfrm>
        </p:spPr>
        <p:txBody>
          <a:bodyPr/>
          <a:lstStyle/>
          <a:p>
            <a:r>
              <a:rPr lang="en-IN" sz="2600" dirty="0"/>
              <a:t>Observed and Forecasted plots (Contd.) </a:t>
            </a:r>
          </a:p>
        </p:txBody>
      </p:sp>
      <p:sp>
        <p:nvSpPr>
          <p:cNvPr id="3" name="Text Placeholder 2">
            <a:extLst>
              <a:ext uri="{FF2B5EF4-FFF2-40B4-BE49-F238E27FC236}">
                <a16:creationId xmlns:a16="http://schemas.microsoft.com/office/drawing/2014/main" id="{2084A5E2-D49C-BDE5-515A-7C76AE2A5821}"/>
              </a:ext>
            </a:extLst>
          </p:cNvPr>
          <p:cNvSpPr>
            <a:spLocks noGrp="1"/>
          </p:cNvSpPr>
          <p:nvPr>
            <p:ph type="body" idx="1"/>
          </p:nvPr>
        </p:nvSpPr>
        <p:spPr/>
        <p:txBody>
          <a:bodyPr/>
          <a:lstStyle/>
          <a:p>
            <a:pPr marL="114300" indent="0">
              <a:buNone/>
            </a:pPr>
            <a:endParaRPr lang="en-IN" dirty="0"/>
          </a:p>
        </p:txBody>
      </p:sp>
      <p:pic>
        <p:nvPicPr>
          <p:cNvPr id="7" name="Picture 6">
            <a:extLst>
              <a:ext uri="{FF2B5EF4-FFF2-40B4-BE49-F238E27FC236}">
                <a16:creationId xmlns:a16="http://schemas.microsoft.com/office/drawing/2014/main" id="{D1470B2B-9DF0-7D06-1A24-EC044020CE13}"/>
              </a:ext>
            </a:extLst>
          </p:cNvPr>
          <p:cNvPicPr>
            <a:picLocks noChangeAspect="1"/>
          </p:cNvPicPr>
          <p:nvPr/>
        </p:nvPicPr>
        <p:blipFill>
          <a:blip r:embed="rId2"/>
          <a:srcRect/>
          <a:stretch/>
        </p:blipFill>
        <p:spPr>
          <a:xfrm>
            <a:off x="311700" y="1171600"/>
            <a:ext cx="8520600" cy="3397200"/>
          </a:xfrm>
          <a:prstGeom prst="rect">
            <a:avLst/>
          </a:prstGeom>
        </p:spPr>
      </p:pic>
    </p:spTree>
    <p:extLst>
      <p:ext uri="{BB962C8B-B14F-4D97-AF65-F5344CB8AC3E}">
        <p14:creationId xmlns:p14="http://schemas.microsoft.com/office/powerpoint/2010/main" val="26027535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5B4C2A80-AB1C-350E-651F-3E09348DB36C}"/>
            </a:ext>
          </a:extLst>
        </p:cNvPr>
        <p:cNvGrpSpPr/>
        <p:nvPr/>
      </p:nvGrpSpPr>
      <p:grpSpPr>
        <a:xfrm>
          <a:off x="0" y="0"/>
          <a:ext cx="0" cy="0"/>
          <a:chOff x="0" y="0"/>
          <a:chExt cx="0" cy="0"/>
        </a:xfrm>
      </p:grpSpPr>
      <p:sp>
        <p:nvSpPr>
          <p:cNvPr id="91" name="Google Shape;91;p18">
            <a:extLst>
              <a:ext uri="{FF2B5EF4-FFF2-40B4-BE49-F238E27FC236}">
                <a16:creationId xmlns:a16="http://schemas.microsoft.com/office/drawing/2014/main" id="{6FB5CAE5-996E-AF89-52E4-4E00180F184C}"/>
              </a:ext>
            </a:extLst>
          </p:cNvPr>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Conclusion</a:t>
            </a:r>
            <a:endParaRPr dirty="0"/>
          </a:p>
        </p:txBody>
      </p:sp>
    </p:spTree>
    <p:extLst>
      <p:ext uri="{BB962C8B-B14F-4D97-AF65-F5344CB8AC3E}">
        <p14:creationId xmlns:p14="http://schemas.microsoft.com/office/powerpoint/2010/main" val="13657562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2"/>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Conclusion</a:t>
            </a:r>
            <a:endParaRPr dirty="0"/>
          </a:p>
        </p:txBody>
      </p:sp>
      <p:sp>
        <p:nvSpPr>
          <p:cNvPr id="116" name="Google Shape;116;p22"/>
          <p:cNvSpPr txBox="1">
            <a:spLocks noGrp="1"/>
          </p:cNvSpPr>
          <p:nvPr>
            <p:ph type="body" idx="1"/>
          </p:nvPr>
        </p:nvSpPr>
        <p:spPr>
          <a:xfrm>
            <a:off x="311700" y="1171599"/>
            <a:ext cx="8520600" cy="3526875"/>
          </a:xfrm>
          <a:prstGeom prst="rect">
            <a:avLst/>
          </a:prstGeom>
        </p:spPr>
        <p:txBody>
          <a:bodyPr spcFirstLastPara="1" wrap="square" lIns="91425" tIns="91425" rIns="91425" bIns="91425" anchor="t" anchorCtr="0">
            <a:noAutofit/>
          </a:bodyPr>
          <a:lstStyle/>
          <a:p>
            <a:pPr marL="0" lvl="0" indent="0">
              <a:spcAft>
                <a:spcPts val="1600"/>
              </a:spcAft>
              <a:buNone/>
            </a:pPr>
            <a:r>
              <a:rPr lang="en-US" dirty="0"/>
              <a:t>Based on error metrics such as MAE, MAPE and MSE, we conclude</a:t>
            </a:r>
          </a:p>
          <a:p>
            <a:pPr marL="285750" indent="-285750">
              <a:spcAft>
                <a:spcPts val="1600"/>
              </a:spcAft>
            </a:pPr>
            <a:r>
              <a:rPr lang="en-US" dirty="0"/>
              <a:t>The ARIMAX (0,2,1) model of the state Rajasthan appears to be the best fit followed by ARIMAX (0,2,1) of AP and ARIMAX (0,1,1) of MP. </a:t>
            </a:r>
          </a:p>
          <a:p>
            <a:pPr marL="285750" indent="-285750">
              <a:spcAft>
                <a:spcPts val="1600"/>
              </a:spcAft>
            </a:pPr>
            <a:r>
              <a:rPr lang="en-US" dirty="0"/>
              <a:t>Performance of ARIMAX (0,1,1) of Chhattisgarh was the worst followed by ARIMAX (0,1,1) of Telangana and ARIMAX (1,2,1) of Gujarat.</a:t>
            </a:r>
          </a:p>
          <a:p>
            <a:pPr marL="285750" indent="-285750">
              <a:spcAft>
                <a:spcPts val="1600"/>
              </a:spcAft>
            </a:pPr>
            <a:r>
              <a:rPr lang="en-US" dirty="0"/>
              <a:t>ARIMAX models for other states viz. Jharkhand, Karnataka, Maharashtra, Uttarakhand, UP and WB perform decently. </a:t>
            </a:r>
          </a:p>
          <a:p>
            <a:pPr marL="285750" indent="-285750">
              <a:spcAft>
                <a:spcPts val="1600"/>
              </a:spcAft>
            </a:pPr>
            <a:r>
              <a:rPr lang="en-US" dirty="0"/>
              <a:t>Sufficient data was not available for Odisha and TN.</a:t>
            </a:r>
          </a:p>
          <a:p>
            <a:pPr marL="0" indent="0">
              <a:spcAft>
                <a:spcPts val="1600"/>
              </a:spcAft>
              <a:buNone/>
            </a:pPr>
            <a:endParaRP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E5F31E71-E009-61BA-16BD-E38E30DA17E2}"/>
            </a:ext>
          </a:extLst>
        </p:cNvPr>
        <p:cNvGrpSpPr/>
        <p:nvPr/>
      </p:nvGrpSpPr>
      <p:grpSpPr>
        <a:xfrm>
          <a:off x="0" y="0"/>
          <a:ext cx="0" cy="0"/>
          <a:chOff x="0" y="0"/>
          <a:chExt cx="0" cy="0"/>
        </a:xfrm>
      </p:grpSpPr>
      <p:sp>
        <p:nvSpPr>
          <p:cNvPr id="91" name="Google Shape;91;p18">
            <a:extLst>
              <a:ext uri="{FF2B5EF4-FFF2-40B4-BE49-F238E27FC236}">
                <a16:creationId xmlns:a16="http://schemas.microsoft.com/office/drawing/2014/main" id="{23139A4A-3597-D39F-1C24-73113A411899}"/>
              </a:ext>
            </a:extLst>
          </p:cNvPr>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Future Works</a:t>
            </a:r>
            <a:endParaRPr dirty="0"/>
          </a:p>
        </p:txBody>
      </p:sp>
    </p:spTree>
    <p:extLst>
      <p:ext uri="{BB962C8B-B14F-4D97-AF65-F5344CB8AC3E}">
        <p14:creationId xmlns:p14="http://schemas.microsoft.com/office/powerpoint/2010/main" val="29274341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6BB6D65B-B16F-F282-E57B-5B97506ECD34}"/>
            </a:ext>
          </a:extLst>
        </p:cNvPr>
        <p:cNvGrpSpPr/>
        <p:nvPr/>
      </p:nvGrpSpPr>
      <p:grpSpPr>
        <a:xfrm>
          <a:off x="0" y="0"/>
          <a:ext cx="0" cy="0"/>
          <a:chOff x="0" y="0"/>
          <a:chExt cx="0" cy="0"/>
        </a:xfrm>
      </p:grpSpPr>
      <p:sp>
        <p:nvSpPr>
          <p:cNvPr id="115" name="Google Shape;115;p22">
            <a:extLst>
              <a:ext uri="{FF2B5EF4-FFF2-40B4-BE49-F238E27FC236}">
                <a16:creationId xmlns:a16="http://schemas.microsoft.com/office/drawing/2014/main" id="{5949A696-67C5-DF34-0655-0B24C0844555}"/>
              </a:ext>
            </a:extLst>
          </p:cNvPr>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Future works</a:t>
            </a:r>
            <a:endParaRPr dirty="0"/>
          </a:p>
        </p:txBody>
      </p:sp>
      <p:sp>
        <p:nvSpPr>
          <p:cNvPr id="116" name="Google Shape;116;p22">
            <a:extLst>
              <a:ext uri="{FF2B5EF4-FFF2-40B4-BE49-F238E27FC236}">
                <a16:creationId xmlns:a16="http://schemas.microsoft.com/office/drawing/2014/main" id="{CF1BD003-82CF-183A-8942-D93877663385}"/>
              </a:ext>
            </a:extLst>
          </p:cNvPr>
          <p:cNvSpPr txBox="1">
            <a:spLocks noGrp="1"/>
          </p:cNvSpPr>
          <p:nvPr>
            <p:ph type="body" idx="1"/>
          </p:nvPr>
        </p:nvSpPr>
        <p:spPr>
          <a:xfrm>
            <a:off x="311700" y="1171599"/>
            <a:ext cx="8520600" cy="3526875"/>
          </a:xfrm>
          <a:prstGeom prst="rect">
            <a:avLst/>
          </a:prstGeom>
        </p:spPr>
        <p:txBody>
          <a:bodyPr spcFirstLastPara="1" wrap="square" lIns="91425" tIns="91425" rIns="91425" bIns="91425" anchor="t" anchorCtr="0">
            <a:noAutofit/>
          </a:bodyPr>
          <a:lstStyle/>
          <a:p>
            <a:pPr marL="114300" indent="0">
              <a:buNone/>
            </a:pPr>
            <a:r>
              <a:rPr lang="en-US" dirty="0"/>
              <a:t>However, there exists few areas where improvement can still be made. For instance,</a:t>
            </a:r>
            <a:endParaRPr lang="en-IN" dirty="0"/>
          </a:p>
          <a:p>
            <a:pPr lvl="0"/>
            <a:r>
              <a:rPr lang="en-US" dirty="0"/>
              <a:t>The project is done based of annual data computed from daily data. We can convert the daily data into monthly data or even use the daily data only for forecasting.</a:t>
            </a:r>
            <a:endParaRPr lang="en-IN" dirty="0"/>
          </a:p>
          <a:p>
            <a:pPr lvl="0"/>
            <a:r>
              <a:rPr lang="en-US" dirty="0"/>
              <a:t>The exogenous variables can be used individually or even as a group of same kind of variables (e.g. a group including temperature and rainfall, another one including FRL, live cap FRL etc.) to forecast yield.</a:t>
            </a:r>
            <a:endParaRPr lang="en-IN" dirty="0"/>
          </a:p>
          <a:p>
            <a:pPr lvl="0"/>
            <a:r>
              <a:rPr lang="en-US" dirty="0"/>
              <a:t>If proper data is available wheat forecasting can be performed for other states of India as well or even for other crops.</a:t>
            </a:r>
            <a:endParaRPr lang="en-IN" dirty="0"/>
          </a:p>
          <a:p>
            <a:pPr marL="0" indent="0">
              <a:spcAft>
                <a:spcPts val="1600"/>
              </a:spcAft>
              <a:buNone/>
            </a:pPr>
            <a:endParaRPr dirty="0"/>
          </a:p>
        </p:txBody>
      </p:sp>
    </p:spTree>
    <p:extLst>
      <p:ext uri="{BB962C8B-B14F-4D97-AF65-F5344CB8AC3E}">
        <p14:creationId xmlns:p14="http://schemas.microsoft.com/office/powerpoint/2010/main" val="23516955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3F2ED6FC-021A-151C-D948-A7B0E5FDECA8}"/>
            </a:ext>
          </a:extLst>
        </p:cNvPr>
        <p:cNvGrpSpPr/>
        <p:nvPr/>
      </p:nvGrpSpPr>
      <p:grpSpPr>
        <a:xfrm>
          <a:off x="0" y="0"/>
          <a:ext cx="0" cy="0"/>
          <a:chOff x="0" y="0"/>
          <a:chExt cx="0" cy="0"/>
        </a:xfrm>
      </p:grpSpPr>
      <p:sp>
        <p:nvSpPr>
          <p:cNvPr id="91" name="Google Shape;91;p18">
            <a:extLst>
              <a:ext uri="{FF2B5EF4-FFF2-40B4-BE49-F238E27FC236}">
                <a16:creationId xmlns:a16="http://schemas.microsoft.com/office/drawing/2014/main" id="{52F859E2-BB7C-F678-F31C-88C0A5E64070}"/>
              </a:ext>
            </a:extLst>
          </p:cNvPr>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References</a:t>
            </a:r>
            <a:endParaRPr dirty="0"/>
          </a:p>
        </p:txBody>
      </p:sp>
    </p:spTree>
    <p:extLst>
      <p:ext uri="{BB962C8B-B14F-4D97-AF65-F5344CB8AC3E}">
        <p14:creationId xmlns:p14="http://schemas.microsoft.com/office/powerpoint/2010/main" val="39326175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09C72EE7-AFCF-9573-D88B-74F60872C517}"/>
            </a:ext>
          </a:extLst>
        </p:cNvPr>
        <p:cNvGrpSpPr/>
        <p:nvPr/>
      </p:nvGrpSpPr>
      <p:grpSpPr>
        <a:xfrm>
          <a:off x="0" y="0"/>
          <a:ext cx="0" cy="0"/>
          <a:chOff x="0" y="0"/>
          <a:chExt cx="0" cy="0"/>
        </a:xfrm>
      </p:grpSpPr>
      <p:sp>
        <p:nvSpPr>
          <p:cNvPr id="101" name="Google Shape;101;p20">
            <a:extLst>
              <a:ext uri="{FF2B5EF4-FFF2-40B4-BE49-F238E27FC236}">
                <a16:creationId xmlns:a16="http://schemas.microsoft.com/office/drawing/2014/main" id="{3F631EEF-0906-839B-EC35-27119832AAA2}"/>
              </a:ext>
            </a:extLst>
          </p:cNvPr>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p>
            <a:pPr marL="0" lvl="0" indent="0">
              <a:buNone/>
            </a:pPr>
            <a:r>
              <a:rPr lang="en-IN" sz="1000" dirty="0">
                <a:solidFill>
                  <a:schemeClr val="tx1"/>
                </a:solidFill>
              </a:rPr>
              <a:t>1. Devi, M., Kumar, J., Malik, D. P., &amp; Mishra, P. (2021). Forecasting of wheat production in Haryana using hybrid time series model. Journal of Agriculture and Food Research, 5, 100175.</a:t>
            </a:r>
          </a:p>
          <a:p>
            <a:pPr marL="342900" lvl="0" indent="-342900">
              <a:buFont typeface="+mj-lt"/>
              <a:buAutoNum type="arabicPeriod"/>
            </a:pPr>
            <a:endParaRPr lang="en-IN" sz="1000" dirty="0">
              <a:solidFill>
                <a:schemeClr val="tx1"/>
              </a:solidFill>
            </a:endParaRPr>
          </a:p>
          <a:p>
            <a:pPr marL="0" lvl="0" indent="0">
              <a:buNone/>
            </a:pPr>
            <a:r>
              <a:rPr lang="en-IN" sz="1000" dirty="0">
                <a:solidFill>
                  <a:schemeClr val="tx1"/>
                </a:solidFill>
              </a:rPr>
              <a:t>2. Bali, N., &amp; Singla, A. (2021). Deep learning-based wheat crop yield prediction model in Punjab region of North India. </a:t>
            </a:r>
            <a:r>
              <a:rPr lang="en-IN" sz="1000" i="1" dirty="0">
                <a:solidFill>
                  <a:schemeClr val="tx1"/>
                </a:solidFill>
              </a:rPr>
              <a:t>Applied Artificial Intelligence</a:t>
            </a:r>
            <a:r>
              <a:rPr lang="en-IN" sz="1000" dirty="0">
                <a:solidFill>
                  <a:schemeClr val="tx1"/>
                </a:solidFill>
              </a:rPr>
              <a:t>, </a:t>
            </a:r>
            <a:r>
              <a:rPr lang="en-IN" sz="1000" i="1" dirty="0">
                <a:solidFill>
                  <a:schemeClr val="tx1"/>
                </a:solidFill>
              </a:rPr>
              <a:t>35</a:t>
            </a:r>
            <a:r>
              <a:rPr lang="en-IN" sz="1000" dirty="0">
                <a:solidFill>
                  <a:schemeClr val="tx1"/>
                </a:solidFill>
              </a:rPr>
              <a:t>(15), 1304-1328.</a:t>
            </a:r>
          </a:p>
          <a:p>
            <a:pPr marL="0" lvl="0" indent="0">
              <a:buNone/>
            </a:pPr>
            <a:endParaRPr lang="en-IN" sz="1000" dirty="0">
              <a:solidFill>
                <a:schemeClr val="tx1"/>
              </a:solidFill>
            </a:endParaRPr>
          </a:p>
          <a:p>
            <a:pPr marL="0" lvl="0" indent="0">
              <a:buNone/>
            </a:pPr>
            <a:r>
              <a:rPr lang="en-IN" sz="1000" dirty="0">
                <a:solidFill>
                  <a:schemeClr val="tx1"/>
                </a:solidFill>
              </a:rPr>
              <a:t> 3. Priya, S. K., &amp; Kausalya, N. Forecasting Wheat Crop Area, Production &amp; Productivity in India Using </a:t>
            </a:r>
            <a:r>
              <a:rPr lang="en-IN" sz="1000" dirty="0" err="1">
                <a:solidFill>
                  <a:schemeClr val="tx1"/>
                </a:solidFill>
              </a:rPr>
              <a:t>Arimax</a:t>
            </a:r>
            <a:r>
              <a:rPr lang="en-IN" sz="1000" dirty="0">
                <a:solidFill>
                  <a:schemeClr val="tx1"/>
                </a:solidFill>
              </a:rPr>
              <a:t> Model.</a:t>
            </a:r>
          </a:p>
          <a:p>
            <a:pPr marL="0" lvl="0" indent="0">
              <a:buNone/>
            </a:pPr>
            <a:endParaRPr lang="en-IN" sz="1000" dirty="0">
              <a:solidFill>
                <a:schemeClr val="tx1"/>
              </a:solidFill>
            </a:endParaRPr>
          </a:p>
          <a:p>
            <a:pPr marL="0" lvl="0" indent="0">
              <a:buNone/>
            </a:pPr>
            <a:r>
              <a:rPr lang="en-IN" sz="1000" dirty="0">
                <a:solidFill>
                  <a:schemeClr val="tx1"/>
                </a:solidFill>
              </a:rPr>
              <a:t>4.Banakara, K. B., Sharma, N., Sahoo, S., Dubey, S. K., &amp; Chowdary, V. M. (2023). Evaluation of weather parameter-based pre-harvest yield forecast models for wheat crop: a case study in Saurashtra region of Gujarat. </a:t>
            </a:r>
            <a:r>
              <a:rPr lang="en-IN" sz="1000" i="1" dirty="0">
                <a:solidFill>
                  <a:schemeClr val="tx1"/>
                </a:solidFill>
              </a:rPr>
              <a:t>Environmental Monitoring and Assessment</a:t>
            </a:r>
            <a:r>
              <a:rPr lang="en-IN" sz="1000" dirty="0">
                <a:solidFill>
                  <a:schemeClr val="tx1"/>
                </a:solidFill>
              </a:rPr>
              <a:t>, </a:t>
            </a:r>
            <a:r>
              <a:rPr lang="en-IN" sz="1000" i="1" dirty="0">
                <a:solidFill>
                  <a:schemeClr val="tx1"/>
                </a:solidFill>
              </a:rPr>
              <a:t>195</a:t>
            </a:r>
            <a:r>
              <a:rPr lang="en-IN" sz="1000" dirty="0">
                <a:solidFill>
                  <a:schemeClr val="tx1"/>
                </a:solidFill>
              </a:rPr>
              <a:t>(1), 51.</a:t>
            </a:r>
            <a:br>
              <a:rPr lang="en-IN" sz="1000" dirty="0">
                <a:solidFill>
                  <a:schemeClr val="tx1"/>
                </a:solidFill>
              </a:rPr>
            </a:br>
            <a:br>
              <a:rPr lang="en-IN" sz="1000" dirty="0">
                <a:solidFill>
                  <a:schemeClr val="tx1"/>
                </a:solidFill>
              </a:rPr>
            </a:br>
            <a:endParaRPr lang="en-IN" sz="1000" dirty="0">
              <a:solidFill>
                <a:schemeClr val="tx1"/>
              </a:solidFill>
            </a:endParaRPr>
          </a:p>
          <a:p>
            <a:pPr marL="0" lvl="0" indent="0">
              <a:buNone/>
            </a:pPr>
            <a:endParaRPr lang="en-IN" sz="1000" dirty="0">
              <a:solidFill>
                <a:schemeClr val="tx1"/>
              </a:solidFill>
            </a:endParaRPr>
          </a:p>
          <a:p>
            <a:pPr marL="0" lvl="0" indent="0">
              <a:buNone/>
            </a:pPr>
            <a:br>
              <a:rPr lang="en-IN" sz="1000" dirty="0">
                <a:solidFill>
                  <a:schemeClr val="tx1"/>
                </a:solidFill>
              </a:rPr>
            </a:br>
            <a:endParaRPr lang="en-IN" sz="1000" dirty="0">
              <a:solidFill>
                <a:schemeClr val="tx1"/>
              </a:solidFill>
            </a:endParaRPr>
          </a:p>
          <a:p>
            <a:pPr marL="0" lvl="0" indent="0">
              <a:buNone/>
            </a:pPr>
            <a:endParaRPr lang="en-IN" sz="1000" dirty="0">
              <a:solidFill>
                <a:schemeClr val="tx1"/>
              </a:solidFill>
            </a:endParaRPr>
          </a:p>
          <a:p>
            <a:pPr marL="0" lvl="0" indent="0">
              <a:buNone/>
            </a:pPr>
            <a:br>
              <a:rPr lang="en-IN" sz="1000" dirty="0">
                <a:solidFill>
                  <a:schemeClr val="tx1"/>
                </a:solidFill>
              </a:rPr>
            </a:br>
            <a:br>
              <a:rPr lang="en-IN" sz="800" dirty="0">
                <a:solidFill>
                  <a:schemeClr val="tx1"/>
                </a:solidFill>
              </a:rPr>
            </a:br>
            <a:endParaRPr sz="800" dirty="0"/>
          </a:p>
        </p:txBody>
      </p:sp>
      <p:sp>
        <p:nvSpPr>
          <p:cNvPr id="102" name="Google Shape;102;p20">
            <a:extLst>
              <a:ext uri="{FF2B5EF4-FFF2-40B4-BE49-F238E27FC236}">
                <a16:creationId xmlns:a16="http://schemas.microsoft.com/office/drawing/2014/main" id="{2C1015C8-EAE3-51A9-1A47-E672BD6CB9DE}"/>
              </a:ext>
            </a:extLst>
          </p:cNvPr>
          <p:cNvSpPr txBox="1">
            <a:spLocks noGrp="1"/>
          </p:cNvSpPr>
          <p:nvPr>
            <p:ph type="body" idx="2"/>
          </p:nvPr>
        </p:nvSpPr>
        <p:spPr>
          <a:xfrm>
            <a:off x="4832400" y="1171675"/>
            <a:ext cx="3999900" cy="3397200"/>
          </a:xfrm>
          <a:prstGeom prst="rect">
            <a:avLst/>
          </a:prstGeom>
        </p:spPr>
        <p:txBody>
          <a:bodyPr spcFirstLastPara="1" wrap="square" lIns="91425" tIns="91425" rIns="91425" bIns="91425" anchor="t" anchorCtr="0">
            <a:noAutofit/>
          </a:bodyPr>
          <a:lstStyle/>
          <a:p>
            <a:pPr marL="0" lvl="0" indent="0">
              <a:buNone/>
            </a:pPr>
            <a:r>
              <a:rPr lang="en-IN" sz="1000" dirty="0">
                <a:solidFill>
                  <a:schemeClr val="tx1"/>
                </a:solidFill>
              </a:rPr>
              <a:t>5.Pandit, P., Sagar, A., Ghose, B., Dey, P., Paul, M., Alqadhi, S., ... &amp; Abdo, H. G. (2023). Hybrid time series models with exogenous variable for improved yield forecasting of major Rabi crops in India. </a:t>
            </a:r>
            <a:r>
              <a:rPr lang="en-IN" sz="1000" i="1" dirty="0">
                <a:solidFill>
                  <a:schemeClr val="tx1"/>
                </a:solidFill>
              </a:rPr>
              <a:t>Scientific Reports</a:t>
            </a:r>
            <a:r>
              <a:rPr lang="en-IN" sz="1000" dirty="0">
                <a:solidFill>
                  <a:schemeClr val="tx1"/>
                </a:solidFill>
              </a:rPr>
              <a:t>, </a:t>
            </a:r>
            <a:r>
              <a:rPr lang="en-IN" sz="1000" i="1" dirty="0">
                <a:solidFill>
                  <a:schemeClr val="tx1"/>
                </a:solidFill>
              </a:rPr>
              <a:t>13</a:t>
            </a:r>
            <a:r>
              <a:rPr lang="en-IN" sz="1000" dirty="0">
                <a:solidFill>
                  <a:schemeClr val="tx1"/>
                </a:solidFill>
              </a:rPr>
              <a:t>(1), 22240.</a:t>
            </a:r>
          </a:p>
          <a:p>
            <a:pPr marL="0" lvl="0" indent="0">
              <a:buNone/>
            </a:pPr>
            <a:endParaRPr lang="en-IN" sz="1000" dirty="0">
              <a:solidFill>
                <a:schemeClr val="tx1"/>
              </a:solidFill>
            </a:endParaRPr>
          </a:p>
          <a:p>
            <a:pPr marL="0" lvl="0" indent="0">
              <a:buNone/>
            </a:pPr>
            <a:r>
              <a:rPr lang="en-IN" sz="1000" dirty="0">
                <a:solidFill>
                  <a:schemeClr val="tx1"/>
                </a:solidFill>
              </a:rPr>
              <a:t>6.Verma, U. (2022). ARIMA and ARIMAX models for sugarcane yield forecasting in Northern Agro-climatic zone of Haryana. Journal of Agrometeorology, 24(2), 200-202.</a:t>
            </a:r>
          </a:p>
          <a:p>
            <a:pPr marL="0" lvl="0" indent="0">
              <a:buNone/>
            </a:pPr>
            <a:br>
              <a:rPr lang="en-IN" sz="1000" dirty="0">
                <a:solidFill>
                  <a:schemeClr val="tx1"/>
                </a:solidFill>
              </a:rPr>
            </a:br>
            <a:r>
              <a:rPr lang="en-IN" sz="1000" dirty="0">
                <a:solidFill>
                  <a:schemeClr val="tx1"/>
                </a:solidFill>
              </a:rPr>
              <a:t>7.Das, Pankaj, and Samir Barman. "Perspective Chapter: An Overview of Time Series Decomposition and Its Applications." Applied and Theoretical Econometrics and Financial Crises (2025): 59.</a:t>
            </a:r>
            <a:br>
              <a:rPr lang="en-IN" sz="1000" dirty="0">
                <a:solidFill>
                  <a:schemeClr val="tx1"/>
                </a:solidFill>
              </a:rPr>
            </a:br>
            <a:endParaRPr lang="en-IN" sz="1000" dirty="0">
              <a:solidFill>
                <a:schemeClr val="tx1"/>
              </a:solidFill>
            </a:endParaRPr>
          </a:p>
          <a:p>
            <a:pPr marL="0" lvl="0" indent="0">
              <a:buNone/>
            </a:pPr>
            <a:endParaRPr lang="en-IN" sz="1000" dirty="0">
              <a:solidFill>
                <a:schemeClr val="tx1"/>
              </a:solidFill>
            </a:endParaRPr>
          </a:p>
          <a:p>
            <a:pPr marL="0" lvl="0" indent="0">
              <a:buNone/>
            </a:pPr>
            <a:br>
              <a:rPr lang="en-IN" sz="1000" dirty="0">
                <a:solidFill>
                  <a:schemeClr val="tx1"/>
                </a:solidFill>
              </a:rPr>
            </a:br>
            <a:br>
              <a:rPr lang="en-IN" sz="1000" dirty="0">
                <a:solidFill>
                  <a:schemeClr val="tx1"/>
                </a:solidFill>
              </a:rPr>
            </a:br>
            <a:endParaRPr sz="1000" dirty="0"/>
          </a:p>
        </p:txBody>
      </p:sp>
      <p:sp>
        <p:nvSpPr>
          <p:cNvPr id="103" name="Google Shape;103;p20">
            <a:extLst>
              <a:ext uri="{FF2B5EF4-FFF2-40B4-BE49-F238E27FC236}">
                <a16:creationId xmlns:a16="http://schemas.microsoft.com/office/drawing/2014/main" id="{866E8C4B-41B5-B892-54E5-5EFE3A8688AD}"/>
              </a:ext>
            </a:extLst>
          </p:cNvPr>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References </a:t>
            </a:r>
            <a:endParaRPr dirty="0"/>
          </a:p>
        </p:txBody>
      </p:sp>
    </p:spTree>
    <p:extLst>
      <p:ext uri="{BB962C8B-B14F-4D97-AF65-F5344CB8AC3E}">
        <p14:creationId xmlns:p14="http://schemas.microsoft.com/office/powerpoint/2010/main" val="2850979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21"/>
          <p:cNvPicPr preferRelativeResize="0"/>
          <p:nvPr/>
        </p:nvPicPr>
        <p:blipFill>
          <a:blip r:embed="rId3"/>
          <a:srcRect l="26344" r="26344"/>
          <a:stretch/>
        </p:blipFill>
        <p:spPr>
          <a:xfrm>
            <a:off x="0" y="0"/>
            <a:ext cx="4576348" cy="5143501"/>
          </a:xfrm>
          <a:prstGeom prst="rect">
            <a:avLst/>
          </a:prstGeom>
          <a:noFill/>
          <a:ln>
            <a:noFill/>
          </a:ln>
        </p:spPr>
      </p:pic>
      <p:pic>
        <p:nvPicPr>
          <p:cNvPr id="109" name="Google Shape;109;p21"/>
          <p:cNvPicPr preferRelativeResize="0"/>
          <p:nvPr/>
        </p:nvPicPr>
        <p:blipFill>
          <a:blip r:embed="rId4"/>
          <a:srcRect t="11215" b="11215"/>
          <a:stretch/>
        </p:blipFill>
        <p:spPr>
          <a:xfrm>
            <a:off x="4576351" y="300"/>
            <a:ext cx="4567649" cy="5143200"/>
          </a:xfrm>
          <a:prstGeom prst="rect">
            <a:avLst/>
          </a:prstGeom>
          <a:noFill/>
          <a:ln>
            <a:noFill/>
          </a:ln>
        </p:spPr>
      </p:pic>
      <p:sp>
        <p:nvSpPr>
          <p:cNvPr id="4" name="Rectangle 3">
            <a:extLst>
              <a:ext uri="{FF2B5EF4-FFF2-40B4-BE49-F238E27FC236}">
                <a16:creationId xmlns:a16="http://schemas.microsoft.com/office/drawing/2014/main" id="{E80DBA14-A7CE-3666-F4E3-5FD8375C2C24}"/>
              </a:ext>
            </a:extLst>
          </p:cNvPr>
          <p:cNvSpPr/>
          <p:nvPr/>
        </p:nvSpPr>
        <p:spPr>
          <a:xfrm>
            <a:off x="1970049" y="2110085"/>
            <a:ext cx="4464001" cy="923330"/>
          </a:xfrm>
          <a:prstGeom prst="rect">
            <a:avLst/>
          </a:prstGeom>
          <a:noFill/>
        </p:spPr>
        <p:txBody>
          <a:bodyPr wrap="square" lIns="91440" tIns="45720" rIns="91440" bIns="45720">
            <a:spAutoFit/>
          </a:bodyPr>
          <a:lstStyle/>
          <a:p>
            <a:pPr algn="ctr"/>
            <a:r>
              <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p>
        </p:txBody>
      </p:sp>
    </p:spTree>
  </p:cSld>
  <p:clrMapOvr>
    <a:masterClrMapping/>
  </p:clrMapOvr>
</p:sld>
</file>

<file path=ppt/theme/theme1.xml><?xml version="1.0" encoding="utf-8"?>
<a:theme xmlns:a="http://schemas.openxmlformats.org/drawingml/2006/main"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198</TotalTime>
  <Words>2431</Words>
  <Application>Microsoft Office PowerPoint</Application>
  <PresentationFormat>On-screen Show (16:9)</PresentationFormat>
  <Paragraphs>225</Paragraphs>
  <Slides>50</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Symbol</vt:lpstr>
      <vt:lpstr>Arial</vt:lpstr>
      <vt:lpstr>Cambria Math</vt:lpstr>
      <vt:lpstr>Old Standard TT</vt:lpstr>
      <vt:lpstr>Paperback</vt:lpstr>
      <vt:lpstr>PowerPoint Presentation</vt:lpstr>
      <vt:lpstr>Forecasting the Production of Wheat in Different States of India Using ARIMAX Models  A presentation by                          Subhodip Chakraborty, University of Kalyani  Supervised by Koulika Paul  Period of Internship: 25th August 2025 – 31st October 2025   Presentation Submitted to: IDEAS – Institute of Data Engineering, Analytics and Science Foundation, ISI Kolkata  </vt:lpstr>
      <vt:lpstr>OUTLINE</vt:lpstr>
      <vt:lpstr>Introduction</vt:lpstr>
      <vt:lpstr>Wheat Production in India</vt:lpstr>
      <vt:lpstr>Forecasting</vt:lpstr>
      <vt:lpstr>Objective</vt:lpstr>
      <vt:lpstr>Objective of the project </vt:lpstr>
      <vt:lpstr>Methodology</vt:lpstr>
      <vt:lpstr>Data Preparation</vt:lpstr>
      <vt:lpstr>Data Preparation</vt:lpstr>
      <vt:lpstr>Decomposition of the series</vt:lpstr>
      <vt:lpstr>Decomposition of the series</vt:lpstr>
      <vt:lpstr>Decomposition of the series</vt:lpstr>
      <vt:lpstr>Stationarity of the series</vt:lpstr>
      <vt:lpstr>Stationarity of the series : ACF &amp; PACF</vt:lpstr>
      <vt:lpstr>Stationarity of the series : Statistical Tests</vt:lpstr>
      <vt:lpstr>Stationarity of the series  </vt:lpstr>
      <vt:lpstr>Stationarity of the series : Differencing </vt:lpstr>
      <vt:lpstr>ARIMAX forecasting</vt:lpstr>
      <vt:lpstr>ARIMAX forecasting</vt:lpstr>
      <vt:lpstr>ARIMAX forecasting</vt:lpstr>
      <vt:lpstr>ARIMAX forecasting</vt:lpstr>
      <vt:lpstr>Results</vt:lpstr>
      <vt:lpstr>Setup</vt:lpstr>
      <vt:lpstr>Year - wise plot of yield </vt:lpstr>
      <vt:lpstr>Year - wise plot of yield (Contd.) </vt:lpstr>
      <vt:lpstr>Additive decomposition for yield  </vt:lpstr>
      <vt:lpstr>Additive decomposition for yield (Contd.) </vt:lpstr>
      <vt:lpstr>Stationarity: Results of stationarity tests </vt:lpstr>
      <vt:lpstr>Stationarity: ACF &amp; PACF plots </vt:lpstr>
      <vt:lpstr>Stationarity: ACF &amp; PACF plots (Contd.) </vt:lpstr>
      <vt:lpstr>Stationarity: Differencing for non –stationary series </vt:lpstr>
      <vt:lpstr>Stationarity: Differencing for non –stationary series (contd.)</vt:lpstr>
      <vt:lpstr>Stationarity: Additive decomposition  </vt:lpstr>
      <vt:lpstr>Stationarity: Additive decomposition (Contd.)</vt:lpstr>
      <vt:lpstr>Stationarity: Tests after differencing </vt:lpstr>
      <vt:lpstr>Stationarity: ACF &amp; PACF plots after differencing </vt:lpstr>
      <vt:lpstr>Stationarity: ACF &amp; PACF plots after differencing (Contd.) </vt:lpstr>
      <vt:lpstr>Stationarity: Tests after differencing again </vt:lpstr>
      <vt:lpstr>Final Models and Residual Analysis </vt:lpstr>
      <vt:lpstr>Observed and Forecasted plots </vt:lpstr>
      <vt:lpstr>Observed and Forecasted plots (Contd.) </vt:lpstr>
      <vt:lpstr>Conclusion</vt:lpstr>
      <vt:lpstr>Conclusion</vt:lpstr>
      <vt:lpstr>Future Works</vt:lpstr>
      <vt:lpstr>Future works</vt:lpstr>
      <vt:lpstr>References</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Subhodip Chakraborty</cp:lastModifiedBy>
  <cp:revision>7</cp:revision>
  <dcterms:modified xsi:type="dcterms:W3CDTF">2025-11-05T18:17:40Z</dcterms:modified>
</cp:coreProperties>
</file>